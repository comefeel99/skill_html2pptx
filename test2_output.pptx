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image" Target="../media/image-7-20.png"/><Relationship Id="rId21" Type="http://schemas.openxmlformats.org/officeDocument/2006/relationships/image" Target="../media/image-7-21.png"/><Relationship Id="rId22" Type="http://schemas.openxmlformats.org/officeDocument/2006/relationships/image" Target="../media/image-7-22.png"/><Relationship Id="rId23" Type="http://schemas.openxmlformats.org/officeDocument/2006/relationships/image" Target="../media/image-7-23.png"/><Relationship Id="rId24" Type="http://schemas.openxmlformats.org/officeDocument/2006/relationships/image" Target="../media/image-7-24.png"/><Relationship Id="rId25" Type="http://schemas.openxmlformats.org/officeDocument/2006/relationships/image" Target="../media/image-7-25.png"/><Relationship Id="rId26" Type="http://schemas.openxmlformats.org/officeDocument/2006/relationships/image" Target="../media/image-7-26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image" Target="../media/image-9-21.png"/><Relationship Id="rId22" Type="http://schemas.openxmlformats.org/officeDocument/2006/relationships/image" Target="../media/image-9-22.png"/><Relationship Id="rId23" Type="http://schemas.openxmlformats.org/officeDocument/2006/relationships/image" Target="../media/image-9-23.png"/><Relationship Id="rId24" Type="http://schemas.openxmlformats.org/officeDocument/2006/relationships/image" Target="../media/image-9-24.png"/><Relationship Id="rId25" Type="http://schemas.openxmlformats.org/officeDocument/2006/relationships/image" Target="../media/image-9-25.png"/><Relationship Id="rId26" Type="http://schemas.openxmlformats.org/officeDocument/2006/relationships/image" Target="../media/image-9-26.png"/><Relationship Id="rId27" Type="http://schemas.openxmlformats.org/officeDocument/2006/relationships/image" Target="../media/image-9-27.png"/><Relationship Id="rId28" Type="http://schemas.openxmlformats.org/officeDocument/2006/relationships/image" Target="../media/image-9-28.png"/><Relationship Id="rId29" Type="http://schemas.openxmlformats.org/officeDocument/2006/relationships/image" Target="../media/image-9-29.png"/><Relationship Id="rId30" Type="http://schemas.openxmlformats.org/officeDocument/2006/relationships/image" Target="../media/image-9-30.png"/><Relationship Id="rId31" Type="http://schemas.openxmlformats.org/officeDocument/2006/relationships/image" Target="../media/image-9-31.png"/><Relationship Id="rId32" Type="http://schemas.openxmlformats.org/officeDocument/2006/relationships/image" Target="../media/image-9-32.png"/><Relationship Id="rId33" Type="http://schemas.openxmlformats.org/officeDocument/2006/relationships/image" Target="../media/image-9-33.png"/><Relationship Id="rId34" Type="http://schemas.openxmlformats.org/officeDocument/2006/relationships/image" Target="../media/image-9-34.png"/><Relationship Id="rId35" Type="http://schemas.openxmlformats.org/officeDocument/2006/relationships/image" Target="../media/image-9-35.png"/><Relationship Id="rId36" Type="http://schemas.openxmlformats.org/officeDocument/2006/relationships/image" Target="../media/image-9-36.png"/><Relationship Id="rId37" Type="http://schemas.openxmlformats.org/officeDocument/2006/relationships/image" Target="../media/image-9-37.png"/><Relationship Id="rId38" Type="http://schemas.openxmlformats.org/officeDocument/2006/relationships/image" Target="../media/image-9-38.png"/><Relationship Id="rId39" Type="http://schemas.openxmlformats.org/officeDocument/2006/relationships/image" Target="../media/image-9-39.png"/><Relationship Id="rId40" Type="http://schemas.openxmlformats.org/officeDocument/2006/relationships/image" Target="../media/image-9-40.png"/><Relationship Id="rId41" Type="http://schemas.openxmlformats.org/officeDocument/2006/relationships/slideLayout" Target="../slideLayouts/slideLayout1.xml"/><Relationship Id="rId4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png"/><Relationship Id="rId17" Type="http://schemas.openxmlformats.org/officeDocument/2006/relationships/image" Target="../media/image-12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https://picture-search.skywork.ai/aippt/image/sheet/5b80969d4b5709ad5086c8844dadce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000250"/>
            <a:ext cx="9144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914400" y="2305050"/>
            <a:ext cx="31362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spcAft>
                <a:spcPts val="12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914400" y="3028950"/>
            <a:ext cx="718840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Premier DMC for CIS Countries &amp; Turkey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14400" y="3638550"/>
            <a:ext cx="586148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3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Pioneering Journeys. Unmatched Expertise. Shared Success.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4362450"/>
            <a:ext cx="2846636" cy="495300"/>
          </a:xfrm>
          <a:prstGeom prst="roundRect">
            <a:avLst>
              <a:gd name="adj" fmla="val 15385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143000" y="4476750"/>
            <a:ext cx="24372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B2B &amp; Partner Presentation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14400" y="6134100"/>
            <a:ext cx="8053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2025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145042" y="6172200"/>
            <a:ext cx="17088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www.dooktravels.com</a:t>
            </a:r>
            <a:endParaRPr lang="en-US" sz="1200" dirty="0"/>
          </a:p>
        </p:txBody>
      </p:sp>
      <p:pic>
        <p:nvPicPr>
          <p:cNvPr id="12" name="Image 1" descr="/var/folders/1y/yzhkrds14j1gm67qjvlds8tm7vvy2b/T/icon-bg-f87z2ykrt-176766487458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Image 2" descr="/var/folders/1y/yzhkrds14j1gm67qjvlds8tm7vvy2b/T/icon-icon-j1a56nc3q-176766487475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700" y="6200775"/>
            <a:ext cx="95250" cy="152400"/>
          </a:xfrm>
          <a:prstGeom prst="rect">
            <a:avLst/>
          </a:prstGeom>
        </p:spPr>
      </p:pic>
      <p:pic>
        <p:nvPicPr>
          <p:cNvPr id="14" name="Image 3" descr="/var/folders/1y/yzhkrds14j1gm67qjvlds8tm7vvy2b/T/icon-icon-dk7jc6mzw-176766487479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250" y="6200775"/>
            <a:ext cx="1333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8527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About Dook Travels: The CIS Pioneers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didn't just enter the market—we created it. Since 2010, Dook Travels has been the trailblazer introducing CIS destinations like Uzbekistan and Russia to the Indian &amp; South Asian market. Our journey has been defined by innovation, trust, and a commitment to providing unparalleled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47788" y="2776538"/>
            <a:ext cx="94392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Lakh+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76300" y="3252788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Happy travelers have explored with us, experiencing the magic of the CIS region.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434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624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1588" y="2776538"/>
            <a:ext cx="9202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10,000+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10100" y="3252788"/>
            <a:ext cx="3070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agents trust Dook Travels to deliver exceptional value and service.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772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80962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72513" y="2776538"/>
            <a:ext cx="59598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500+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43900" y="3252788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Corporate clients rely on us for their incentive tours and business travel needs.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4471988"/>
            <a:ext cx="10972800" cy="1533525"/>
          </a:xfrm>
          <a:prstGeom prst="roundRect">
            <a:avLst>
              <a:gd name="adj" fmla="val 496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09600" y="4491038"/>
            <a:ext cx="109728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200" y="4738688"/>
            <a:ext cx="107259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8200" y="5157788"/>
            <a:ext cx="10725912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provide unparalleled value, seamless execution, and authentic travel experiences across our specialized destinations.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678096" y="6400800"/>
            <a:ext cx="291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2/12</a:t>
            </a:r>
            <a:endParaRPr lang="en-US" sz="1200" dirty="0"/>
          </a:p>
        </p:txBody>
      </p:sp>
      <p:pic>
        <p:nvPicPr>
          <p:cNvPr id="23" name="Image 0" descr="/var/folders/1y/yzhkrds14j1gm67qjvlds8tm7vvy2b/T/icon-icon-2yqzlwtkg-176766487666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776538"/>
            <a:ext cx="357188" cy="285750"/>
          </a:xfrm>
          <a:prstGeom prst="rect">
            <a:avLst/>
          </a:prstGeom>
        </p:spPr>
      </p:pic>
      <p:pic>
        <p:nvPicPr>
          <p:cNvPr id="24" name="Image 1" descr="/var/folders/1y/yzhkrds14j1gm67qjvlds8tm7vvy2b/T/icon-icon-3pp2s79c6-17676648767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2776538"/>
            <a:ext cx="357188" cy="285750"/>
          </a:xfrm>
          <a:prstGeom prst="rect">
            <a:avLst/>
          </a:prstGeom>
        </p:spPr>
      </p:pic>
      <p:pic>
        <p:nvPicPr>
          <p:cNvPr id="25" name="Image 2" descr="/var/folders/1y/yzhkrds14j1gm67qjvlds8tm7vvy2b/T/icon-icon-qtfy5k2l7-17676648767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0" y="2776538"/>
            <a:ext cx="214313" cy="285750"/>
          </a:xfrm>
          <a:prstGeom prst="rect">
            <a:avLst/>
          </a:prstGeom>
        </p:spPr>
      </p:pic>
      <p:pic>
        <p:nvPicPr>
          <p:cNvPr id="26" name="Image 3" descr="/var/folders/1y/yzhkrds14j1gm67qjvlds8tm7vvy2b/T/icon-icon-99t5x2qi7-176766487677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67263"/>
            <a:ext cx="228600" cy="228600"/>
          </a:xfrm>
          <a:prstGeom prst="rect">
            <a:avLst/>
          </a:prstGeom>
        </p:spPr>
      </p:pic>
      <p:pic>
        <p:nvPicPr>
          <p:cNvPr id="27" name="Image 4" descr="/var/folders/1y/yzhkrds14j1gm67qjvlds8tm7vvy2b/T/icon-icon-99t5x2qi7-17676648768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767263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61443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Journey of Innovation &amp; Growth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humble beginnings to becoming the undisputed leader in CIS &amp; Turkey tourism, Dook Travels has evolved through decades of innovation, expansion, and technological advancement.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971800"/>
            <a:ext cx="10972800" cy="381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9050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20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620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07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2010-2011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07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Beginning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0788" y="4524375"/>
            <a:ext cx="2020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Pioneered group tours to Uzbekistan &amp; Russia, opening a new frontier for Indian travelers.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82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052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5052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139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2012-2016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7139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 Expansion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713988" y="4524375"/>
            <a:ext cx="20208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Systematically expanded our footprint across the CIS, adding Kazakhstan, Georgia, Armenia, and Azerbaijan.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914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484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2484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571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2017-2020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571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 Diversification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57188" y="4524375"/>
            <a:ext cx="20208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Strengthened our MICE &amp; Corporate travel division, becoming the go-to expert for large-scale incentive tours.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1346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9916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89916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003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2023 &amp; Beyond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2003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 &amp; New Horizons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200388" y="4524375"/>
            <a:ext cx="20208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Launched our state-of-the-art B2B booking portal and expanded our portfolio to include Turkey and key Eastern European destinations.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680180" y="6400800"/>
            <a:ext cx="288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3/12</a:t>
            </a:r>
            <a:endParaRPr lang="en-US" sz="1200" dirty="0"/>
          </a:p>
        </p:txBody>
      </p:sp>
      <p:pic>
        <p:nvPicPr>
          <p:cNvPr id="32" name="Image 0" descr="/var/folders/1y/yzhkrds14j1gm67qjvlds8tm7vvy2b/T/icon-icon-rh7rjyoci-176766487866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9750" y="3248025"/>
            <a:ext cx="342900" cy="342900"/>
          </a:xfrm>
          <a:prstGeom prst="rect">
            <a:avLst/>
          </a:prstGeom>
        </p:spPr>
      </p:pic>
      <p:pic>
        <p:nvPicPr>
          <p:cNvPr id="33" name="Image 1" descr="/var/folders/1y/yzhkrds14j1gm67qjvlds8tm7vvy2b/T/icon-icon-suefyi05s-176766487871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2950" y="3248025"/>
            <a:ext cx="342900" cy="342900"/>
          </a:xfrm>
          <a:prstGeom prst="rect">
            <a:avLst/>
          </a:prstGeom>
        </p:spPr>
      </p:pic>
      <p:pic>
        <p:nvPicPr>
          <p:cNvPr id="34" name="Image 2" descr="/var/folders/1y/yzhkrds14j1gm67qjvlds8tm7vvy2b/T/icon-icon-300s4b0ox-176766487874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719" y="3248025"/>
            <a:ext cx="385763" cy="342900"/>
          </a:xfrm>
          <a:prstGeom prst="rect">
            <a:avLst/>
          </a:prstGeom>
        </p:spPr>
      </p:pic>
      <p:pic>
        <p:nvPicPr>
          <p:cNvPr id="35" name="Image 3" descr="/var/folders/1y/yzhkrds14j1gm67qjvlds8tm7vvy2b/T/icon-icon-b1c5ptimm-176766487878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9350" y="3248025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5843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Dook Advantage: Why We Lead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 establishes its market leadership through four key pillars that deliver superior value and exceptional service to our partners and clients.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19325"/>
            <a:ext cx="5334000" cy="1476375"/>
          </a:xfrm>
          <a:prstGeom prst="roundRect">
            <a:avLst>
              <a:gd name="adj" fmla="val 516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2233613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8200" y="2476500"/>
            <a:ext cx="590550" cy="647700"/>
          </a:xfrm>
          <a:prstGeom prst="roundRect">
            <a:avLst>
              <a:gd name="adj" fmla="val 1612741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81150" y="2476500"/>
            <a:ext cx="42165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Pioneering Expertise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81150" y="2857500"/>
            <a:ext cx="421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14+ years of specialized, on-the-ground experience in a region others are just discovering.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48400" y="2219325"/>
            <a:ext cx="5334000" cy="1476375"/>
          </a:xfrm>
          <a:prstGeom prst="roundRect">
            <a:avLst>
              <a:gd name="adj" fmla="val 516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8400" y="2233613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2476500"/>
            <a:ext cx="519113" cy="647700"/>
          </a:xfrm>
          <a:prstGeom prst="roundRect">
            <a:avLst>
              <a:gd name="adj" fmla="val 1834677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148513" y="2476500"/>
            <a:ext cx="42893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 On-Ground Infrastructure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148513" y="2857500"/>
            <a:ext cx="42893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Fully-owned offices, transport fleets, and even our own Indian restaurants in key destinations.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000500"/>
            <a:ext cx="5334000" cy="1704975"/>
          </a:xfrm>
          <a:prstGeom prst="roundRect">
            <a:avLst>
              <a:gd name="adj" fmla="val 446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09600" y="4014788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8200" y="4257675"/>
            <a:ext cx="519113" cy="647700"/>
          </a:xfrm>
          <a:prstGeom prst="roundRect">
            <a:avLst>
              <a:gd name="adj" fmla="val 1834677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509713" y="4257675"/>
            <a:ext cx="42893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Indian-Centric Solutions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09713" y="4638675"/>
            <a:ext cx="42893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understanding of the needs of the Indian traveler—from cuisine to comfort—and deliver solutions no one else can.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8400" y="4000500"/>
            <a:ext cx="5334000" cy="1704975"/>
          </a:xfrm>
          <a:prstGeom prst="roundRect">
            <a:avLst>
              <a:gd name="adj" fmla="val 446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6248400" y="4014788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7000" y="4257675"/>
            <a:ext cx="590550" cy="647700"/>
          </a:xfrm>
          <a:prstGeom prst="roundRect">
            <a:avLst>
              <a:gd name="adj" fmla="val 1612741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219950" y="4257675"/>
            <a:ext cx="42165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Service Ecosystem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19950" y="4638675"/>
            <a:ext cx="421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single, reliable partner for everything: FIT, Group Tours, MICE, Visas, and more.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661279" y="6400800"/>
            <a:ext cx="3081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4/12</a:t>
            </a:r>
            <a:endParaRPr lang="en-US" sz="1200" dirty="0"/>
          </a:p>
        </p:txBody>
      </p:sp>
      <p:pic>
        <p:nvPicPr>
          <p:cNvPr id="27" name="Image 0" descr="/var/folders/1y/yzhkrds14j1gm67qjvlds8tm7vvy2b/T/icon-icon-c9magapd2-176766488075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2647950"/>
            <a:ext cx="285750" cy="285750"/>
          </a:xfrm>
          <a:prstGeom prst="rect">
            <a:avLst/>
          </a:prstGeom>
        </p:spPr>
      </p:pic>
      <p:pic>
        <p:nvPicPr>
          <p:cNvPr id="28" name="Image 1" descr="/var/folders/1y/yzhkrds14j1gm67qjvlds8tm7vvy2b/T/icon-icon-jf74587je-17676648808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47950"/>
            <a:ext cx="214313" cy="285750"/>
          </a:xfrm>
          <a:prstGeom prst="rect">
            <a:avLst/>
          </a:prstGeom>
        </p:spPr>
      </p:pic>
      <p:pic>
        <p:nvPicPr>
          <p:cNvPr id="29" name="Image 2" descr="/var/folders/1y/yzhkrds14j1gm67qjvlds8tm7vvy2b/T/icon-icon-h9gb4k7x7-176766488083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4429125"/>
            <a:ext cx="214313" cy="285750"/>
          </a:xfrm>
          <a:prstGeom prst="rect">
            <a:avLst/>
          </a:prstGeom>
        </p:spPr>
      </p:pic>
      <p:pic>
        <p:nvPicPr>
          <p:cNvPr id="30" name="Image 3" descr="/var/folders/1y/yzhkrds14j1gm67qjvlds8tm7vvy2b/T/icon-icon-g6d3ylrgl-176766488086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429125"/>
            <a:ext cx="2857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81248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5351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Unmatched Expertise in the CIS &amp; Turkey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Destination mastery is in our DNA. For over a decade, we've been pioneering journeys across the CIS and Turkey, developing specialized knowledge and innovative approaches that set us apart.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19325"/>
            <a:ext cx="53721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219325"/>
            <a:ext cx="0" cy="17145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3950" y="2409825"/>
            <a:ext cx="23607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Innovation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2828925"/>
            <a:ext cx="50520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constantly "invent" new travel circuits and experiences, moving beyond standard itineraries to offer authentic, memorable journeys that showcase the unique aspects of each destination.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" y="4124325"/>
            <a:ext cx="53721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28650" y="4124325"/>
            <a:ext cx="0" cy="17145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1100" y="4314825"/>
            <a:ext cx="2264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Logistical Prowess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8200" y="4733925"/>
            <a:ext cx="50520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specialize in complex, multi-country tours, ensuring a seamless and hassle-free experience for groups and FITs alike. Our expertise lies in coordinating elaborate itineraries across borders with precision.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6029325"/>
            <a:ext cx="5372100" cy="1485900"/>
          </a:xfrm>
          <a:prstGeom prst="roundRect">
            <a:avLst>
              <a:gd name="adj" fmla="val 512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28650" y="6029325"/>
            <a:ext cx="0" cy="14859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09675" y="6219825"/>
            <a:ext cx="28135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Local Knowledge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8200" y="6638925"/>
            <a:ext cx="50520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teams possess intimate knowledge of the culture, logistics, and hidden gems of every destination we operate in. This allows us to provide authentic experiences that others miss.</a:t>
            </a:r>
            <a:endParaRPr lang="en-US" sz="1200" dirty="0"/>
          </a:p>
        </p:txBody>
      </p:sp>
      <p:pic>
        <p:nvPicPr>
          <p:cNvPr id="18" name="Image 0" descr="https://picture-search.skywork.ai/aippt/image/sheet/750562dc633564e178440be2947f77b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0300" y="3581102"/>
            <a:ext cx="5372100" cy="222929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210300" y="5810399"/>
            <a:ext cx="5372100" cy="3429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234303" y="5886599"/>
            <a:ext cx="532409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Registan Square, Samarkand - One of our many mastered destinations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680031" y="7667625"/>
            <a:ext cx="2890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5/12</a:t>
            </a:r>
            <a:endParaRPr lang="en-US" sz="1200" dirty="0"/>
          </a:p>
        </p:txBody>
      </p:sp>
      <p:pic>
        <p:nvPicPr>
          <p:cNvPr id="22" name="Image 1" descr="/var/folders/1y/yzhkrds14j1gm67qjvlds8tm7vvy2b/T/icon-icon-xnpvgnqjy-176766488253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38400"/>
            <a:ext cx="171450" cy="228600"/>
          </a:xfrm>
          <a:prstGeom prst="rect">
            <a:avLst/>
          </a:prstGeom>
        </p:spPr>
      </p:pic>
      <p:pic>
        <p:nvPicPr>
          <p:cNvPr id="23" name="Image 2" descr="/var/folders/1y/yzhkrds14j1gm67qjvlds8tm7vvy2b/T/icon-icon-d14jeri0b-176766488258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343400"/>
            <a:ext cx="228600" cy="228600"/>
          </a:xfrm>
          <a:prstGeom prst="rect">
            <a:avLst/>
          </a:prstGeom>
        </p:spPr>
      </p:pic>
      <p:pic>
        <p:nvPicPr>
          <p:cNvPr id="24" name="Image 3" descr="/var/folders/1y/yzhkrds14j1gm67qjvlds8tm7vvy2b/T/icon-icon-ecrxjwt93-17676648826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6248400"/>
            <a:ext cx="257175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1037357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On-Ground Infrastructure: Your Assurance of Quality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We're not just present—we're invested. Dook Travels has established robust on-the-ground infrastructure to ensure seamless execution of every travel program in the CIS region.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6300" y="2371725"/>
            <a:ext cx="514350" cy="647700"/>
          </a:xfrm>
          <a:prstGeom prst="roundRect">
            <a:avLst>
              <a:gd name="adj" fmla="val 18516667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04950" y="2543175"/>
            <a:ext cx="220906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Physical Presence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6300" y="3171825"/>
            <a:ext cx="3070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Fully-staffed offices in 9+ countries across the CIS region, including: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6300" y="4505325"/>
            <a:ext cx="3070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real-time, on-the-ground support.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434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624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0100" y="2371725"/>
            <a:ext cx="542925" cy="647700"/>
          </a:xfrm>
          <a:prstGeom prst="roundRect">
            <a:avLst>
              <a:gd name="adj" fmla="val 17542105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67325" y="2543175"/>
            <a:ext cx="23059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 Restaurants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10100" y="3171825"/>
            <a:ext cx="3070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are one of the only DMCs to operate our </a:t>
            </a:r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 chain of Indian restaurants</a:t>
            </a:r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in key CIS locations, solving the number one concern for Indian travelers.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38700" y="4467225"/>
            <a:ext cx="22099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taste of home, guaranteed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772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0962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2371725"/>
            <a:ext cx="628650" cy="647700"/>
          </a:xfrm>
          <a:prstGeom prst="roundRect">
            <a:avLst>
              <a:gd name="adj" fmla="val 1515000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086850" y="2390775"/>
            <a:ext cx="2312289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 Relationships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43900" y="3171825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Long-standing, exclusive relationships with the best hotels and transport providers, ensuring: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72500" y="4010025"/>
            <a:ext cx="11333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Priority service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72500" y="4314825"/>
            <a:ext cx="263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Competitive rates for our partners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09600" y="5267325"/>
            <a:ext cx="10972800" cy="9525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09600" y="5286375"/>
            <a:ext cx="1097280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00150" y="5495925"/>
            <a:ext cx="1039558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assurance of quality: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Dook Travels' robust infrastructure provides a level of support and service that other DMCs simply cannot match.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671846" y="6400800"/>
            <a:ext cx="2973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6/12</a:t>
            </a:r>
            <a:endParaRPr lang="en-US" sz="1200" dirty="0"/>
          </a:p>
        </p:txBody>
      </p:sp>
      <p:pic>
        <p:nvPicPr>
          <p:cNvPr id="29" name="Image 0" descr="/var/folders/1y/yzhkrds14j1gm67qjvlds8tm7vvy2b/T/icon-icon-h9wlwz4qg-176766488445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2543175"/>
            <a:ext cx="171450" cy="304800"/>
          </a:xfrm>
          <a:prstGeom prst="rect">
            <a:avLst/>
          </a:prstGeom>
        </p:spPr>
      </p:pic>
      <p:pic>
        <p:nvPicPr>
          <p:cNvPr id="30" name="Image 1" descr="/var/folders/1y/yzhkrds14j1gm67qjvlds8tm7vvy2b/T/icon-icon-ib6stz4l3-17676648845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550" y="2543175"/>
            <a:ext cx="200025" cy="304800"/>
          </a:xfrm>
          <a:prstGeom prst="rect">
            <a:avLst/>
          </a:prstGeom>
        </p:spPr>
      </p:pic>
      <p:pic>
        <p:nvPicPr>
          <p:cNvPr id="31" name="Image 2" descr="/var/folders/1y/yzhkrds14j1gm67qjvlds8tm7vvy2b/T/icon-icon-odyl7gbu6-176766488454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100" y="4505325"/>
            <a:ext cx="152400" cy="152400"/>
          </a:xfrm>
          <a:prstGeom prst="rect">
            <a:avLst/>
          </a:prstGeom>
        </p:spPr>
      </p:pic>
      <p:pic>
        <p:nvPicPr>
          <p:cNvPr id="32" name="Image 3" descr="/var/folders/1y/yzhkrds14j1gm67qjvlds8tm7vvy2b/T/icon-icon-pu7gmoa3z-176766488457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5350" y="2543175"/>
            <a:ext cx="285750" cy="304800"/>
          </a:xfrm>
          <a:prstGeom prst="rect">
            <a:avLst/>
          </a:prstGeom>
        </p:spPr>
      </p:pic>
      <p:pic>
        <p:nvPicPr>
          <p:cNvPr id="33" name="Image 4" descr="/var/folders/1y/yzhkrds14j1gm67qjvlds8tm7vvy2b/T/icon-icon-ljxa3dbkl-17676648846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3900" y="4048125"/>
            <a:ext cx="152400" cy="152400"/>
          </a:xfrm>
          <a:prstGeom prst="rect">
            <a:avLst/>
          </a:prstGeom>
        </p:spPr>
      </p:pic>
      <p:pic>
        <p:nvPicPr>
          <p:cNvPr id="34" name="Image 5" descr="/var/folders/1y/yzhkrds14j1gm67qjvlds8tm7vvy2b/T/icon-icon-clo419q79-176766488464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3900" y="4352925"/>
            <a:ext cx="152400" cy="152400"/>
          </a:xfrm>
          <a:prstGeom prst="rect">
            <a:avLst/>
          </a:prstGeom>
        </p:spPr>
      </p:pic>
      <p:pic>
        <p:nvPicPr>
          <p:cNvPr id="35" name="Image 6" descr="/var/folders/1y/yzhkrds14j1gm67qjvlds8tm7vvy2b/T/icon-icon-9j3q85rjy-176766488468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" y="5610225"/>
            <a:ext cx="2857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86680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Comprehensive Solutions for Every Travel Need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one-stop solution for all travel requirements, tailored to each segment's unique needs.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09688" y="2000250"/>
            <a:ext cx="213270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 Agents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24765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Largest portfolio of fixed departures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Customizable FITs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Instant confirmations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8200" y="35433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857250" y="35433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" y="36576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Streamline operations with our powerful B2B booking portal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434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434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0613" y="2000250"/>
            <a:ext cx="1799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Corporates</a:t>
            </a:r>
            <a:endParaRPr lang="en-US" sz="1800" dirty="0"/>
          </a:p>
        </p:txBody>
      </p:sp>
      <p:pic>
        <p:nvPicPr>
          <p:cNvPr id="16" name="Image 0" descr="https://picture-search.skywork.ai/aippt/image/sheet/2d77e86ba1b72bd0ea07c14986ab2b6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2476500"/>
            <a:ext cx="3048000" cy="1219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572000" y="3810000"/>
            <a:ext cx="304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Proven expertise in incentive tours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Offsites and conferences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0" y="45339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6"/>
          <p:cNvSpPr/>
          <p:nvPr/>
        </p:nvSpPr>
        <p:spPr>
          <a:xfrm>
            <a:off x="4591050" y="45339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24400" y="46482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Flawless execution for 500+ leading companies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0772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80772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777288" y="2000250"/>
            <a:ext cx="15641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Travelers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8305800" y="24765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All-inclusive holiday packages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Value-driven pricing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Authentic Indian meals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305800" y="35433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3"/>
          <p:cNvSpPr/>
          <p:nvPr/>
        </p:nvSpPr>
        <p:spPr>
          <a:xfrm>
            <a:off x="8324850" y="35433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58200" y="36576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Worry-free travel with premium hotels and flights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11683008" y="6400800"/>
            <a:ext cx="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7/12</a:t>
            </a:r>
            <a:endParaRPr lang="en-US" sz="1200" dirty="0"/>
          </a:p>
        </p:txBody>
      </p:sp>
      <p:pic>
        <p:nvPicPr>
          <p:cNvPr id="29" name="Image 1" descr="/var/folders/1y/yzhkrds14j1gm67qjvlds8tm7vvy2b/T/icon-icon-see3ozygh-176766488656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00250"/>
            <a:ext cx="357188" cy="285750"/>
          </a:xfrm>
          <a:prstGeom prst="rect">
            <a:avLst/>
          </a:prstGeom>
        </p:spPr>
      </p:pic>
      <p:pic>
        <p:nvPicPr>
          <p:cNvPr id="30" name="Image 2" descr="/var/folders/1y/yzhkrds14j1gm67qjvlds8tm7vvy2b/T/icon-icon-7puw2ad6q-17676648866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14600"/>
            <a:ext cx="152400" cy="152400"/>
          </a:xfrm>
          <a:prstGeom prst="rect">
            <a:avLst/>
          </a:prstGeom>
        </p:spPr>
      </p:pic>
      <p:pic>
        <p:nvPicPr>
          <p:cNvPr id="31" name="Image 3" descr="/var/folders/1y/yzhkrds14j1gm67qjvlds8tm7vvy2b/T/icon-icon-l2dbewyuh-176766488664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857500"/>
            <a:ext cx="152400" cy="152400"/>
          </a:xfrm>
          <a:prstGeom prst="rect">
            <a:avLst/>
          </a:prstGeom>
        </p:spPr>
      </p:pic>
      <p:pic>
        <p:nvPicPr>
          <p:cNvPr id="32" name="Image 4" descr="/var/folders/1y/yzhkrds14j1gm67qjvlds8tm7vvy2b/T/icon-icon-fs3ts5j77-176766488668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200400"/>
            <a:ext cx="152400" cy="152400"/>
          </a:xfrm>
          <a:prstGeom prst="rect">
            <a:avLst/>
          </a:prstGeom>
        </p:spPr>
      </p:pic>
      <p:pic>
        <p:nvPicPr>
          <p:cNvPr id="33" name="Image 5" descr="/var/folders/1y/yzhkrds14j1gm67qjvlds8tm7vvy2b/T/icon-icon-7puw2ad6q-176766488671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2514600"/>
            <a:ext cx="152400" cy="152400"/>
          </a:xfrm>
          <a:prstGeom prst="rect">
            <a:avLst/>
          </a:prstGeom>
        </p:spPr>
      </p:pic>
      <p:pic>
        <p:nvPicPr>
          <p:cNvPr id="34" name="Image 6" descr="/var/folders/1y/yzhkrds14j1gm67qjvlds8tm7vvy2b/T/icon-icon-l2dbewyuh-176766488675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2857500"/>
            <a:ext cx="152400" cy="152400"/>
          </a:xfrm>
          <a:prstGeom prst="rect">
            <a:avLst/>
          </a:prstGeom>
        </p:spPr>
      </p:pic>
      <p:pic>
        <p:nvPicPr>
          <p:cNvPr id="35" name="Image 7" descr="/var/folders/1y/yzhkrds14j1gm67qjvlds8tm7vvy2b/T/icon-icon-fs3ts5j77-176766488678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3200400"/>
            <a:ext cx="152400" cy="152400"/>
          </a:xfrm>
          <a:prstGeom prst="rect">
            <a:avLst/>
          </a:prstGeom>
        </p:spPr>
      </p:pic>
      <p:pic>
        <p:nvPicPr>
          <p:cNvPr id="36" name="Image 8" descr="/var/folders/1y/yzhkrds14j1gm67qjvlds8tm7vvy2b/T/icon-icon-jarl1lp2b-1767664886817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3686175"/>
            <a:ext cx="100013" cy="133350"/>
          </a:xfrm>
          <a:prstGeom prst="rect">
            <a:avLst/>
          </a:prstGeom>
        </p:spPr>
      </p:pic>
      <p:pic>
        <p:nvPicPr>
          <p:cNvPr id="37" name="Image 9" descr="/var/folders/1y/yzhkrds14j1gm67qjvlds8tm7vvy2b/T/icon-icon-jarl1lp2b-176766488685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3686175"/>
            <a:ext cx="100013" cy="133350"/>
          </a:xfrm>
          <a:prstGeom prst="rect">
            <a:avLst/>
          </a:prstGeom>
        </p:spPr>
      </p:pic>
      <p:pic>
        <p:nvPicPr>
          <p:cNvPr id="38" name="Image 10" descr="/var/folders/1y/yzhkrds14j1gm67qjvlds8tm7vvy2b/T/icon-icon-qdvuxbztl-1767664886892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2000250"/>
            <a:ext cx="214313" cy="285750"/>
          </a:xfrm>
          <a:prstGeom prst="rect">
            <a:avLst/>
          </a:prstGeom>
        </p:spPr>
      </p:pic>
      <p:pic>
        <p:nvPicPr>
          <p:cNvPr id="39" name="Image 11" descr="/var/folders/1y/yzhkrds14j1gm67qjvlds8tm7vvy2b/T/icon-icon-8uso049dr-1767664886924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3848100"/>
            <a:ext cx="152400" cy="152400"/>
          </a:xfrm>
          <a:prstGeom prst="rect">
            <a:avLst/>
          </a:prstGeom>
        </p:spPr>
      </p:pic>
      <p:pic>
        <p:nvPicPr>
          <p:cNvPr id="40" name="Image 12" descr="/var/folders/1y/yzhkrds14j1gm67qjvlds8tm7vvy2b/T/icon-icon-p0gm2k7b0-1767664886959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0" y="4191000"/>
            <a:ext cx="152400" cy="152400"/>
          </a:xfrm>
          <a:prstGeom prst="rect">
            <a:avLst/>
          </a:prstGeom>
        </p:spPr>
      </p:pic>
      <p:pic>
        <p:nvPicPr>
          <p:cNvPr id="41" name="Image 13" descr="/var/folders/1y/yzhkrds14j1gm67qjvlds8tm7vvy2b/T/icon-icon-8uso049dr-1767664886992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0" y="3848100"/>
            <a:ext cx="152400" cy="152400"/>
          </a:xfrm>
          <a:prstGeom prst="rect">
            <a:avLst/>
          </a:prstGeom>
        </p:spPr>
      </p:pic>
      <p:pic>
        <p:nvPicPr>
          <p:cNvPr id="42" name="Image 14" descr="/var/folders/1y/yzhkrds14j1gm67qjvlds8tm7vvy2b/T/icon-icon-p0gm2k7b0-176766488702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0" y="4191000"/>
            <a:ext cx="152400" cy="152400"/>
          </a:xfrm>
          <a:prstGeom prst="rect">
            <a:avLst/>
          </a:prstGeom>
        </p:spPr>
      </p:pic>
      <p:pic>
        <p:nvPicPr>
          <p:cNvPr id="43" name="Image 15" descr="/var/folders/1y/yzhkrds14j1gm67qjvlds8tm7vvy2b/T/icon-icon-6qww76nir-1767664887059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24400" y="4676775"/>
            <a:ext cx="100013" cy="133350"/>
          </a:xfrm>
          <a:prstGeom prst="rect">
            <a:avLst/>
          </a:prstGeom>
        </p:spPr>
      </p:pic>
      <p:pic>
        <p:nvPicPr>
          <p:cNvPr id="44" name="Image 16" descr="/var/folders/1y/yzhkrds14j1gm67qjvlds8tm7vvy2b/T/icon-icon-6qww76nir-1767664887092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24400" y="4676775"/>
            <a:ext cx="100013" cy="133350"/>
          </a:xfrm>
          <a:prstGeom prst="rect">
            <a:avLst/>
          </a:prstGeom>
        </p:spPr>
      </p:pic>
      <p:pic>
        <p:nvPicPr>
          <p:cNvPr id="45" name="Image 17" descr="/var/folders/1y/yzhkrds14j1gm67qjvlds8tm7vvy2b/T/icon-icon-xhmidtyoi-1767664887126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05800" y="2000250"/>
            <a:ext cx="357188" cy="285750"/>
          </a:xfrm>
          <a:prstGeom prst="rect">
            <a:avLst/>
          </a:prstGeom>
        </p:spPr>
      </p:pic>
      <p:pic>
        <p:nvPicPr>
          <p:cNvPr id="46" name="Image 18" descr="/var/folders/1y/yzhkrds14j1gm67qjvlds8tm7vvy2b/T/icon-icon-zwyieirbt-1767664887168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05800" y="2514600"/>
            <a:ext cx="152400" cy="152400"/>
          </a:xfrm>
          <a:prstGeom prst="rect">
            <a:avLst/>
          </a:prstGeom>
        </p:spPr>
      </p:pic>
      <p:pic>
        <p:nvPicPr>
          <p:cNvPr id="47" name="Image 19" descr="/var/folders/1y/yzhkrds14j1gm67qjvlds8tm7vvy2b/T/icon-icon-tk7xjxp8l-1767664887209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5800" y="2857500"/>
            <a:ext cx="152400" cy="152400"/>
          </a:xfrm>
          <a:prstGeom prst="rect">
            <a:avLst/>
          </a:prstGeom>
        </p:spPr>
      </p:pic>
      <p:pic>
        <p:nvPicPr>
          <p:cNvPr id="48" name="Image 20" descr="/var/folders/1y/yzhkrds14j1gm67qjvlds8tm7vvy2b/T/icon-icon-36h66ika7-1767664887243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05800" y="3200400"/>
            <a:ext cx="152400" cy="152400"/>
          </a:xfrm>
          <a:prstGeom prst="rect">
            <a:avLst/>
          </a:prstGeom>
        </p:spPr>
      </p:pic>
      <p:pic>
        <p:nvPicPr>
          <p:cNvPr id="49" name="Image 21" descr="/var/folders/1y/yzhkrds14j1gm67qjvlds8tm7vvy2b/T/icon-icon-zwyieirbt-1767664887275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05800" y="2514600"/>
            <a:ext cx="152400" cy="152400"/>
          </a:xfrm>
          <a:prstGeom prst="rect">
            <a:avLst/>
          </a:prstGeom>
        </p:spPr>
      </p:pic>
      <p:pic>
        <p:nvPicPr>
          <p:cNvPr id="50" name="Image 22" descr="/var/folders/1y/yzhkrds14j1gm67qjvlds8tm7vvy2b/T/icon-icon-tk7xjxp8l-1767664887318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05800" y="2857500"/>
            <a:ext cx="152400" cy="152400"/>
          </a:xfrm>
          <a:prstGeom prst="rect">
            <a:avLst/>
          </a:prstGeom>
        </p:spPr>
      </p:pic>
      <p:pic>
        <p:nvPicPr>
          <p:cNvPr id="51" name="Image 23" descr="/var/folders/1y/yzhkrds14j1gm67qjvlds8tm7vvy2b/T/icon-icon-36h66ika7-1767664887359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05800" y="3200400"/>
            <a:ext cx="152400" cy="152400"/>
          </a:xfrm>
          <a:prstGeom prst="rect">
            <a:avLst/>
          </a:prstGeom>
        </p:spPr>
      </p:pic>
      <p:pic>
        <p:nvPicPr>
          <p:cNvPr id="52" name="Image 24" descr="/var/folders/1y/yzhkrds14j1gm67qjvlds8tm7vvy2b/T/icon-icon-quug5tc0n-1767664887392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58200" y="3686175"/>
            <a:ext cx="100013" cy="133350"/>
          </a:xfrm>
          <a:prstGeom prst="rect">
            <a:avLst/>
          </a:prstGeom>
        </p:spPr>
      </p:pic>
      <p:pic>
        <p:nvPicPr>
          <p:cNvPr id="53" name="Image 25" descr="/var/folders/1y/yzhkrds14j1gm67qjvlds8tm7vvy2b/T/icon-icon-quug5tc0n-1767664887426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58200" y="3686175"/>
            <a:ext cx="100013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807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952500"/>
            <a:ext cx="450354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2354" y="609600"/>
            <a:ext cx="1057744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Power of Partnership: Our B2B &amp; Corporate Ecosystem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6002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Dook Travels, we believe in building win-win partnerships that drive growth for both parties. Our integrated ecosystem provides comprehensive support for travel agents and tailored solutions for corporate clients.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362200"/>
            <a:ext cx="5334000" cy="4610100"/>
          </a:xfrm>
          <a:prstGeom prst="roundRect">
            <a:avLst>
              <a:gd name="adj" fmla="val 165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38200" y="2590800"/>
            <a:ext cx="49743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Empowering Our Agent Network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38200" y="30480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857250" y="30480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8700" y="32004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57350" y="32004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Innovative B2B Portal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57350" y="34671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Instantly book flights, hotels, meals, and tours with live inventory and dynamic pricing.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8200" y="42291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857250" y="42291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8700" y="43815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57350" y="43815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Dedicated Support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57350" y="46482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dedicated account manager for training, support, and query resolution.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8200" y="54102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57250" y="54102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8700" y="55626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657350" y="55626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Best-in-Market Value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57350" y="58293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Unbeatable rates and commissions that help you grow your business.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8400" y="2362200"/>
            <a:ext cx="5334000" cy="4610100"/>
          </a:xfrm>
          <a:prstGeom prst="roundRect">
            <a:avLst>
              <a:gd name="adj" fmla="val 165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77000" y="2590800"/>
            <a:ext cx="497433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The Trusted Choice for Corporate Travel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77000" y="33528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496050" y="33528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7500" y="35052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96150" y="35052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Tailored MICE Solutions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96150" y="37719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MICE solutions tailored to your company's objectives and budget.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77000" y="45339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496050" y="45339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7500" y="46863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296150" y="46863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Large-Scale Events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96150" y="49530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Expertise in handling incentive tours, conferences, and company offsites with precision and creativity.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77000" y="57150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6496050" y="57150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67500" y="58674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296150" y="58674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Seamless Global Coordination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296150" y="61341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single, reliable point of contact for seamless global coordination of all your travel needs.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9872" y="7200900"/>
            <a:ext cx="111922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We Succeed When Our Partners Succeed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1669018" y="7620000"/>
            <a:ext cx="300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8/12</a:t>
            </a:r>
            <a:endParaRPr lang="en-US" sz="1200" dirty="0"/>
          </a:p>
        </p:txBody>
      </p:sp>
      <p:pic>
        <p:nvPicPr>
          <p:cNvPr id="42" name="Image 0" descr="/var/folders/1y/yzhkrds14j1gm67qjvlds8tm7vvy2b/T/icon-icon-3hrub9867-17676648893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2628900"/>
            <a:ext cx="285750" cy="228600"/>
          </a:xfrm>
          <a:prstGeom prst="rect">
            <a:avLst/>
          </a:prstGeom>
        </p:spPr>
      </p:pic>
      <p:pic>
        <p:nvPicPr>
          <p:cNvPr id="43" name="Image 1" descr="/var/folders/1y/yzhkrds14j1gm67qjvlds8tm7vvy2b/T/icon-icon-3hrub9867-176766488935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28900"/>
            <a:ext cx="285750" cy="228600"/>
          </a:xfrm>
          <a:prstGeom prst="rect">
            <a:avLst/>
          </a:prstGeom>
        </p:spPr>
      </p:pic>
      <p:pic>
        <p:nvPicPr>
          <p:cNvPr id="44" name="Image 2" descr="/var/folders/1y/yzhkrds14j1gm67qjvlds8tm7vvy2b/T/icon-icon-v0kbvfu86-176766488939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575" y="3305175"/>
            <a:ext cx="190500" cy="266700"/>
          </a:xfrm>
          <a:prstGeom prst="rect">
            <a:avLst/>
          </a:prstGeom>
        </p:spPr>
      </p:pic>
      <p:pic>
        <p:nvPicPr>
          <p:cNvPr id="45" name="Image 3" descr="/var/folders/1y/yzhkrds14j1gm67qjvlds8tm7vvy2b/T/icon-icon-mec3450ty-176766488942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575" y="4486275"/>
            <a:ext cx="190500" cy="266700"/>
          </a:xfrm>
          <a:prstGeom prst="rect">
            <a:avLst/>
          </a:prstGeom>
        </p:spPr>
      </p:pic>
      <p:pic>
        <p:nvPicPr>
          <p:cNvPr id="46" name="Image 4" descr="/var/folders/1y/yzhkrds14j1gm67qjvlds8tm7vvy2b/T/icon-icon-xw3hznl0k-176766488945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575" y="5667375"/>
            <a:ext cx="190500" cy="266700"/>
          </a:xfrm>
          <a:prstGeom prst="rect">
            <a:avLst/>
          </a:prstGeom>
        </p:spPr>
      </p:pic>
      <p:pic>
        <p:nvPicPr>
          <p:cNvPr id="47" name="Image 5" descr="/var/folders/1y/yzhkrds14j1gm67qjvlds8tm7vvy2b/T/icon-icon-m6xdszcjp-176766488949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2781300"/>
            <a:ext cx="171450" cy="228600"/>
          </a:xfrm>
          <a:prstGeom prst="rect">
            <a:avLst/>
          </a:prstGeom>
        </p:spPr>
      </p:pic>
      <p:pic>
        <p:nvPicPr>
          <p:cNvPr id="48" name="Image 6" descr="/var/folders/1y/yzhkrds14j1gm67qjvlds8tm7vvy2b/T/icon-icon-m6xdszcjp-176766488952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2781300"/>
            <a:ext cx="171450" cy="228600"/>
          </a:xfrm>
          <a:prstGeom prst="rect">
            <a:avLst/>
          </a:prstGeom>
        </p:spPr>
      </p:pic>
      <p:pic>
        <p:nvPicPr>
          <p:cNvPr id="49" name="Image 7" descr="/var/folders/1y/yzhkrds14j1gm67qjvlds8tm7vvy2b/T/icon-icon-rsmos5hr6-176766488955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563" y="3609975"/>
            <a:ext cx="238125" cy="266700"/>
          </a:xfrm>
          <a:prstGeom prst="rect">
            <a:avLst/>
          </a:prstGeom>
        </p:spPr>
      </p:pic>
      <p:pic>
        <p:nvPicPr>
          <p:cNvPr id="50" name="Image 8" descr="/var/folders/1y/yzhkrds14j1gm67qjvlds8tm7vvy2b/T/icon-icon-vubfclpfq-176766488959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22281" y="4791075"/>
            <a:ext cx="166688" cy="266700"/>
          </a:xfrm>
          <a:prstGeom prst="rect">
            <a:avLst/>
          </a:prstGeom>
        </p:spPr>
      </p:pic>
      <p:pic>
        <p:nvPicPr>
          <p:cNvPr id="51" name="Image 9" descr="/var/folders/1y/yzhkrds14j1gm67qjvlds8tm7vvy2b/T/icon-icon-hynchrq5w-176766488962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6563" y="5972175"/>
            <a:ext cx="238125" cy="266700"/>
          </a:xfrm>
          <a:prstGeom prst="rect">
            <a:avLst/>
          </a:prstGeom>
        </p:spPr>
      </p:pic>
      <p:pic>
        <p:nvPicPr>
          <p:cNvPr id="52" name="Image 10" descr="/var/folders/1y/yzhkrds14j1gm67qjvlds8tm7vvy2b/T/icon-icon-z6dxe7r60-1767664889659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56720" y="7239000"/>
            <a:ext cx="214313" cy="190500"/>
          </a:xfrm>
          <a:prstGeom prst="rect">
            <a:avLst/>
          </a:prstGeom>
        </p:spPr>
      </p:pic>
      <p:pic>
        <p:nvPicPr>
          <p:cNvPr id="53" name="Image 11" descr="/var/folders/1y/yzhkrds14j1gm67qjvlds8tm7vvy2b/T/icon-icon-2qieiit91-176766488970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0968" y="7239000"/>
            <a:ext cx="214313" cy="190500"/>
          </a:xfrm>
          <a:prstGeom prst="rect">
            <a:avLst/>
          </a:prstGeom>
        </p:spPr>
      </p:pic>
      <p:pic>
        <p:nvPicPr>
          <p:cNvPr id="54" name="Image 12" descr="/var/folders/1y/yzhkrds14j1gm67qjvlds8tm7vvy2b/T/icon-icon-z6dxe7r60-1767664889732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56720" y="7239000"/>
            <a:ext cx="214313" cy="190500"/>
          </a:xfrm>
          <a:prstGeom prst="rect">
            <a:avLst/>
          </a:prstGeom>
        </p:spPr>
      </p:pic>
      <p:pic>
        <p:nvPicPr>
          <p:cNvPr id="55" name="Image 13" descr="/var/folders/1y/yzhkrds14j1gm67qjvlds8tm7vvy2b/T/icon-icon-2qieiit91-1767664889766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0968" y="7239000"/>
            <a:ext cx="214313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9246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5814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Dook Difference: A Clear Comparison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settle for a follower? Partner with the undisputed market leader. Dook Travels stands apart with unique advantages that others simply cannot match.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1981200"/>
            <a:ext cx="10972800" cy="3267075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3024" y="1981200"/>
            <a:ext cx="3730752" cy="461963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30624" y="1981200"/>
            <a:ext cx="3730752" cy="461963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88224" y="1981200"/>
            <a:ext cx="3730752" cy="461963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Other DMCs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30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Own Indian Restaurants in CIS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306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8882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/ Rarely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30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Pioneer in Indian Market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306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Since 2010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882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Follower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30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Comprehensive B2B Tech Platform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306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882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Limited / None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730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Specialized Indian Market Focus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306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Core DNA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8882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General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730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On-Ground Offices in 9+ Countries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306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882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Limited Presence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730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Proven MICE &amp; Corporate Expertise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2306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882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Variable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600" y="5476875"/>
            <a:ext cx="10972800" cy="838200"/>
          </a:xfrm>
          <a:prstGeom prst="roundRect">
            <a:avLst>
              <a:gd name="adj" fmla="val 9091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28650" y="5476875"/>
            <a:ext cx="0" cy="83820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0100" y="5629275"/>
            <a:ext cx="1084249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choice is clear:</a:t>
            </a:r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When you partner with Dook Travels, you gain advantages that simply aren't available elsewhere in the market.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1676459" y="6467475"/>
            <a:ext cx="292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9/12</a:t>
            </a:r>
            <a:endParaRPr lang="en-US" sz="1200" dirty="0"/>
          </a:p>
        </p:txBody>
      </p:sp>
      <p:pic>
        <p:nvPicPr>
          <p:cNvPr id="32" name="Image 0" descr="/var/folders/1y/yzhkrds14j1gm67qjvlds8tm7vvy2b/T/icon-icon-mjubu96gt-17676648918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0773" y="2133600"/>
            <a:ext cx="171450" cy="152400"/>
          </a:xfrm>
          <a:prstGeom prst="rect">
            <a:avLst/>
          </a:prstGeom>
        </p:spPr>
      </p:pic>
      <p:pic>
        <p:nvPicPr>
          <p:cNvPr id="33" name="Image 1" descr="/var/folders/1y/yzhkrds14j1gm67qjvlds8tm7vvy2b/T/icon-icon-mjubu96gt-176766489189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773" y="2133600"/>
            <a:ext cx="171450" cy="152400"/>
          </a:xfrm>
          <a:prstGeom prst="rect">
            <a:avLst/>
          </a:prstGeom>
        </p:spPr>
      </p:pic>
      <p:pic>
        <p:nvPicPr>
          <p:cNvPr id="34" name="Image 2" descr="/var/folders/1y/yzhkrds14j1gm67qjvlds8tm7vvy2b/T/icon-icon-7lokp5pul-176766489193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13" y="2600325"/>
            <a:ext cx="133350" cy="152400"/>
          </a:xfrm>
          <a:prstGeom prst="rect">
            <a:avLst/>
          </a:prstGeom>
        </p:spPr>
      </p:pic>
      <p:pic>
        <p:nvPicPr>
          <p:cNvPr id="35" name="Image 3" descr="/var/folders/1y/yzhkrds14j1gm67qjvlds8tm7vvy2b/T/icon-icon-7lokp5pul-176766489196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13" y="2600325"/>
            <a:ext cx="133350" cy="152400"/>
          </a:xfrm>
          <a:prstGeom prst="rect">
            <a:avLst/>
          </a:prstGeom>
        </p:spPr>
      </p:pic>
      <p:pic>
        <p:nvPicPr>
          <p:cNvPr id="36" name="Image 4" descr="/var/folders/1y/yzhkrds14j1gm67qjvlds8tm7vvy2b/T/icon-icon-kgh6xorja-17676648920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3588" y="2590800"/>
            <a:ext cx="152400" cy="152400"/>
          </a:xfrm>
          <a:prstGeom prst="rect">
            <a:avLst/>
          </a:prstGeom>
        </p:spPr>
      </p:pic>
      <p:pic>
        <p:nvPicPr>
          <p:cNvPr id="37" name="Image 5" descr="/var/folders/1y/yzhkrds14j1gm67qjvlds8tm7vvy2b/T/icon-icon-kgh6xorja-176766489204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3588" y="2590800"/>
            <a:ext cx="152400" cy="152400"/>
          </a:xfrm>
          <a:prstGeom prst="rect">
            <a:avLst/>
          </a:prstGeom>
        </p:spPr>
      </p:pic>
      <p:pic>
        <p:nvPicPr>
          <p:cNvPr id="38" name="Image 6" descr="/var/folders/1y/yzhkrds14j1gm67qjvlds8tm7vvy2b/T/icon-icon-lq2aeua97-176766489207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6302" y="2590800"/>
            <a:ext cx="152400" cy="152400"/>
          </a:xfrm>
          <a:prstGeom prst="rect">
            <a:avLst/>
          </a:prstGeom>
        </p:spPr>
      </p:pic>
      <p:pic>
        <p:nvPicPr>
          <p:cNvPr id="39" name="Image 7" descr="/var/folders/1y/yzhkrds14j1gm67qjvlds8tm7vvy2b/T/icon-icon-lq2aeua97-176766489210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302" y="2590800"/>
            <a:ext cx="152400" cy="152400"/>
          </a:xfrm>
          <a:prstGeom prst="rect">
            <a:avLst/>
          </a:prstGeom>
        </p:spPr>
      </p:pic>
      <p:pic>
        <p:nvPicPr>
          <p:cNvPr id="40" name="Image 8" descr="/var/folders/1y/yzhkrds14j1gm67qjvlds8tm7vvy2b/T/icon-icon-gflto13f5-176766489214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9814" y="3067050"/>
            <a:ext cx="152400" cy="152400"/>
          </a:xfrm>
          <a:prstGeom prst="rect">
            <a:avLst/>
          </a:prstGeom>
        </p:spPr>
      </p:pic>
      <p:pic>
        <p:nvPicPr>
          <p:cNvPr id="41" name="Image 9" descr="/var/folders/1y/yzhkrds14j1gm67qjvlds8tm7vvy2b/T/icon-icon-gflto13f5-1767664892176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69814" y="3067050"/>
            <a:ext cx="152400" cy="152400"/>
          </a:xfrm>
          <a:prstGeom prst="rect">
            <a:avLst/>
          </a:prstGeom>
        </p:spPr>
      </p:pic>
      <p:pic>
        <p:nvPicPr>
          <p:cNvPr id="42" name="Image 10" descr="/var/folders/1y/yzhkrds14j1gm67qjvlds8tm7vvy2b/T/icon-icon-qmmkx23ox-1767664892209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2451" y="3057525"/>
            <a:ext cx="152400" cy="152400"/>
          </a:xfrm>
          <a:prstGeom prst="rect">
            <a:avLst/>
          </a:prstGeom>
        </p:spPr>
      </p:pic>
      <p:pic>
        <p:nvPicPr>
          <p:cNvPr id="43" name="Image 11" descr="/var/folders/1y/yzhkrds14j1gm67qjvlds8tm7vvy2b/T/icon-icon-qmmkx23ox-176766489224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2451" y="3057525"/>
            <a:ext cx="152400" cy="152400"/>
          </a:xfrm>
          <a:prstGeom prst="rect">
            <a:avLst/>
          </a:prstGeom>
        </p:spPr>
      </p:pic>
      <p:pic>
        <p:nvPicPr>
          <p:cNvPr id="44" name="Image 12" descr="/var/folders/1y/yzhkrds14j1gm67qjvlds8tm7vvy2b/T/icon-icon-e8joqm2g5-176766489227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13515" y="3057525"/>
            <a:ext cx="152400" cy="152400"/>
          </a:xfrm>
          <a:prstGeom prst="rect">
            <a:avLst/>
          </a:prstGeom>
        </p:spPr>
      </p:pic>
      <p:pic>
        <p:nvPicPr>
          <p:cNvPr id="45" name="Image 13" descr="/var/folders/1y/yzhkrds14j1gm67qjvlds8tm7vvy2b/T/icon-icon-e8joqm2g5-1767664892309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13515" y="3057525"/>
            <a:ext cx="152400" cy="152400"/>
          </a:xfrm>
          <a:prstGeom prst="rect">
            <a:avLst/>
          </a:prstGeom>
        </p:spPr>
      </p:pic>
      <p:pic>
        <p:nvPicPr>
          <p:cNvPr id="46" name="Image 14" descr="/var/folders/1y/yzhkrds14j1gm67qjvlds8tm7vvy2b/T/icon-icon-dyiboek89-1767664892342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4435" y="3533775"/>
            <a:ext cx="190500" cy="152400"/>
          </a:xfrm>
          <a:prstGeom prst="rect">
            <a:avLst/>
          </a:prstGeom>
        </p:spPr>
      </p:pic>
      <p:pic>
        <p:nvPicPr>
          <p:cNvPr id="47" name="Image 15" descr="/var/folders/1y/yzhkrds14j1gm67qjvlds8tm7vvy2b/T/icon-icon-dyiboek89-1767664892383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54435" y="3533775"/>
            <a:ext cx="190500" cy="152400"/>
          </a:xfrm>
          <a:prstGeom prst="rect">
            <a:avLst/>
          </a:prstGeom>
        </p:spPr>
      </p:pic>
      <p:pic>
        <p:nvPicPr>
          <p:cNvPr id="48" name="Image 16" descr="/var/folders/1y/yzhkrds14j1gm67qjvlds8tm7vvy2b/T/icon-icon-560xjo895-1767664892417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843588" y="3524250"/>
            <a:ext cx="152400" cy="152400"/>
          </a:xfrm>
          <a:prstGeom prst="rect">
            <a:avLst/>
          </a:prstGeom>
        </p:spPr>
      </p:pic>
      <p:pic>
        <p:nvPicPr>
          <p:cNvPr id="49" name="Image 17" descr="/var/folders/1y/yzhkrds14j1gm67qjvlds8tm7vvy2b/T/icon-icon-560xjo895-1767664892450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43588" y="3524250"/>
            <a:ext cx="152400" cy="152400"/>
          </a:xfrm>
          <a:prstGeom prst="rect">
            <a:avLst/>
          </a:prstGeom>
        </p:spPr>
      </p:pic>
      <p:pic>
        <p:nvPicPr>
          <p:cNvPr id="50" name="Image 18" descr="/var/folders/1y/yzhkrds14j1gm67qjvlds8tm7vvy2b/T/icon-icon-aitxcwxgg-1767664892484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2265" y="3524250"/>
            <a:ext cx="152400" cy="152400"/>
          </a:xfrm>
          <a:prstGeom prst="rect">
            <a:avLst/>
          </a:prstGeom>
        </p:spPr>
      </p:pic>
      <p:pic>
        <p:nvPicPr>
          <p:cNvPr id="51" name="Image 19" descr="/var/folders/1y/yzhkrds14j1gm67qjvlds8tm7vvy2b/T/icon-icon-aitxcwxgg-1767664892517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072265" y="3524250"/>
            <a:ext cx="152400" cy="152400"/>
          </a:xfrm>
          <a:prstGeom prst="rect">
            <a:avLst/>
          </a:prstGeom>
        </p:spPr>
      </p:pic>
      <p:pic>
        <p:nvPicPr>
          <p:cNvPr id="52" name="Image 20" descr="/var/folders/1y/yzhkrds14j1gm67qjvlds8tm7vvy2b/T/icon-icon-bgvj5ue0b-176766489254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79302" y="4000500"/>
            <a:ext cx="152400" cy="152400"/>
          </a:xfrm>
          <a:prstGeom prst="rect">
            <a:avLst/>
          </a:prstGeom>
        </p:spPr>
      </p:pic>
      <p:pic>
        <p:nvPicPr>
          <p:cNvPr id="53" name="Image 21" descr="/var/folders/1y/yzhkrds14j1gm67qjvlds8tm7vvy2b/T/icon-icon-bgvj5ue0b-176766489258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79302" y="4000500"/>
            <a:ext cx="152400" cy="152400"/>
          </a:xfrm>
          <a:prstGeom prst="rect">
            <a:avLst/>
          </a:prstGeom>
        </p:spPr>
      </p:pic>
      <p:pic>
        <p:nvPicPr>
          <p:cNvPr id="54" name="Image 22" descr="/var/folders/1y/yzhkrds14j1gm67qjvlds8tm7vvy2b/T/icon-icon-t3tazietl-1767664892618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590729" y="3990975"/>
            <a:ext cx="152400" cy="152400"/>
          </a:xfrm>
          <a:prstGeom prst="rect">
            <a:avLst/>
          </a:prstGeom>
        </p:spPr>
      </p:pic>
      <p:pic>
        <p:nvPicPr>
          <p:cNvPr id="55" name="Image 23" descr="/var/folders/1y/yzhkrds14j1gm67qjvlds8tm7vvy2b/T/icon-icon-t3tazietl-1767664892649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590729" y="3990975"/>
            <a:ext cx="152400" cy="152400"/>
          </a:xfrm>
          <a:prstGeom prst="rect">
            <a:avLst/>
          </a:prstGeom>
        </p:spPr>
      </p:pic>
      <p:pic>
        <p:nvPicPr>
          <p:cNvPr id="56" name="Image 24" descr="/var/folders/1y/yzhkrds14j1gm67qjvlds8tm7vvy2b/T/icon-icon-jadx803kk-1767664892684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342834" y="3990975"/>
            <a:ext cx="152400" cy="152400"/>
          </a:xfrm>
          <a:prstGeom prst="rect">
            <a:avLst/>
          </a:prstGeom>
        </p:spPr>
      </p:pic>
      <p:pic>
        <p:nvPicPr>
          <p:cNvPr id="57" name="Image 25" descr="/var/folders/1y/yzhkrds14j1gm67qjvlds8tm7vvy2b/T/icon-icon-jadx803kk-1767664892717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342834" y="3990975"/>
            <a:ext cx="152400" cy="152400"/>
          </a:xfrm>
          <a:prstGeom prst="rect">
            <a:avLst/>
          </a:prstGeom>
        </p:spPr>
      </p:pic>
      <p:pic>
        <p:nvPicPr>
          <p:cNvPr id="58" name="Image 26" descr="/var/folders/1y/yzhkrds14j1gm67qjvlds8tm7vvy2b/T/icon-icon-75g70h42d-1767664892750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17836" y="4467225"/>
            <a:ext cx="114300" cy="152400"/>
          </a:xfrm>
          <a:prstGeom prst="rect">
            <a:avLst/>
          </a:prstGeom>
        </p:spPr>
      </p:pic>
      <p:pic>
        <p:nvPicPr>
          <p:cNvPr id="59" name="Image 27" descr="/var/folders/1y/yzhkrds14j1gm67qjvlds8tm7vvy2b/T/icon-icon-75g70h42d-176766489278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17836" y="4467225"/>
            <a:ext cx="114300" cy="152400"/>
          </a:xfrm>
          <a:prstGeom prst="rect">
            <a:avLst/>
          </a:prstGeom>
        </p:spPr>
      </p:pic>
      <p:pic>
        <p:nvPicPr>
          <p:cNvPr id="60" name="Image 28" descr="/var/folders/1y/yzhkrds14j1gm67qjvlds8tm7vvy2b/T/icon-icon-2c0qy6jzy-1767664892817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843588" y="4457700"/>
            <a:ext cx="152400" cy="152400"/>
          </a:xfrm>
          <a:prstGeom prst="rect">
            <a:avLst/>
          </a:prstGeom>
        </p:spPr>
      </p:pic>
      <p:pic>
        <p:nvPicPr>
          <p:cNvPr id="61" name="Image 29" descr="/var/folders/1y/yzhkrds14j1gm67qjvlds8tm7vvy2b/T/icon-icon-2c0qy6jzy-1767664892848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843588" y="4457700"/>
            <a:ext cx="152400" cy="152400"/>
          </a:xfrm>
          <a:prstGeom prst="rect">
            <a:avLst/>
          </a:prstGeom>
        </p:spPr>
      </p:pic>
      <p:pic>
        <p:nvPicPr>
          <p:cNvPr id="62" name="Image 30" descr="/var/folders/1y/yzhkrds14j1gm67qjvlds8tm7vvy2b/T/icon-icon-4i09t9fgx-1767664892884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973443" y="4457700"/>
            <a:ext cx="152400" cy="152400"/>
          </a:xfrm>
          <a:prstGeom prst="rect">
            <a:avLst/>
          </a:prstGeom>
        </p:spPr>
      </p:pic>
      <p:pic>
        <p:nvPicPr>
          <p:cNvPr id="63" name="Image 31" descr="/var/folders/1y/yzhkrds14j1gm67qjvlds8tm7vvy2b/T/icon-icon-4i09t9fgx-176766489291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973443" y="4457700"/>
            <a:ext cx="152400" cy="152400"/>
          </a:xfrm>
          <a:prstGeom prst="rect">
            <a:avLst/>
          </a:prstGeom>
        </p:spPr>
      </p:pic>
      <p:pic>
        <p:nvPicPr>
          <p:cNvPr id="64" name="Image 32" descr="/var/folders/1y/yzhkrds14j1gm67qjvlds8tm7vvy2b/T/icon-icon-5cvfquoxe-1767664892950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54584" y="4933950"/>
            <a:ext cx="190500" cy="152400"/>
          </a:xfrm>
          <a:prstGeom prst="rect">
            <a:avLst/>
          </a:prstGeom>
        </p:spPr>
      </p:pic>
      <p:pic>
        <p:nvPicPr>
          <p:cNvPr id="65" name="Image 33" descr="/var/folders/1y/yzhkrds14j1gm67qjvlds8tm7vvy2b/T/icon-icon-5cvfquoxe-1767664892984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54584" y="4933950"/>
            <a:ext cx="190500" cy="152400"/>
          </a:xfrm>
          <a:prstGeom prst="rect">
            <a:avLst/>
          </a:prstGeom>
        </p:spPr>
      </p:pic>
      <p:pic>
        <p:nvPicPr>
          <p:cNvPr id="66" name="Image 34" descr="/var/folders/1y/yzhkrds14j1gm67qjvlds8tm7vvy2b/T/icon-icon-yem6icxt8-1767664893017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843588" y="4924425"/>
            <a:ext cx="152400" cy="152400"/>
          </a:xfrm>
          <a:prstGeom prst="rect">
            <a:avLst/>
          </a:prstGeom>
        </p:spPr>
      </p:pic>
      <p:pic>
        <p:nvPicPr>
          <p:cNvPr id="67" name="Image 35" descr="/var/folders/1y/yzhkrds14j1gm67qjvlds8tm7vvy2b/T/icon-icon-yem6icxt8-1767664893050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843588" y="4924425"/>
            <a:ext cx="152400" cy="152400"/>
          </a:xfrm>
          <a:prstGeom prst="rect">
            <a:avLst/>
          </a:prstGeom>
        </p:spPr>
      </p:pic>
      <p:pic>
        <p:nvPicPr>
          <p:cNvPr id="68" name="Image 36" descr="/var/folders/1y/yzhkrds14j1gm67qjvlds8tm7vvy2b/T/icon-icon-m212ptlbo-1767664893084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330630" y="4924425"/>
            <a:ext cx="152400" cy="152400"/>
          </a:xfrm>
          <a:prstGeom prst="rect">
            <a:avLst/>
          </a:prstGeom>
        </p:spPr>
      </p:pic>
      <p:pic>
        <p:nvPicPr>
          <p:cNvPr id="69" name="Image 37" descr="/var/folders/1y/yzhkrds14j1gm67qjvlds8tm7vvy2b/T/icon-icon-m212ptlbo-1767664893117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330630" y="4924425"/>
            <a:ext cx="152400" cy="152400"/>
          </a:xfrm>
          <a:prstGeom prst="rect">
            <a:avLst/>
          </a:prstGeom>
        </p:spPr>
      </p:pic>
      <p:pic>
        <p:nvPicPr>
          <p:cNvPr id="70" name="Image 38" descr="/var/folders/1y/yzhkrds14j1gm67qjvlds8tm7vvy2b/T/icon-icon-lh77sp5dx-1767664893151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00100" y="5667375"/>
            <a:ext cx="128588" cy="171450"/>
          </a:xfrm>
          <a:prstGeom prst="rect">
            <a:avLst/>
          </a:prstGeom>
        </p:spPr>
      </p:pic>
      <p:pic>
        <p:nvPicPr>
          <p:cNvPr id="71" name="Image 39" descr="/var/folders/1y/yzhkrds14j1gm67qjvlds8tm7vvy2b/T/icon-icon-lh77sp5dx-1767664893192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00100" y="5667375"/>
            <a:ext cx="128588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32882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Legacy of Trust &amp; Success in Numbers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2365248" y="1295400"/>
            <a:ext cx="746150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numbers don't just tell a story—they prove our commitment to delivering exceptional travel experiences and building lasting partnerships.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133600"/>
            <a:ext cx="2011561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11820" y="2971800"/>
            <a:ext cx="22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500,000+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97992" y="3505200"/>
            <a:ext cx="1234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Happy Travelers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49761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953494" y="2857500"/>
            <a:ext cx="184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10,000+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062816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Agent Partners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90071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11701" y="2857500"/>
            <a:ext cx="1191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500+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303126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Corporate Clients Served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30380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772251" y="2857500"/>
            <a:ext cx="1150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250+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543435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Dedicated Professionals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70690" y="2133600"/>
            <a:ext cx="2011561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189964" y="2857500"/>
            <a:ext cx="788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14+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783747" y="3390900"/>
            <a:ext cx="158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Years of Market Leadership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4381500"/>
            <a:ext cx="8534400" cy="1295400"/>
          </a:xfrm>
          <a:prstGeom prst="roundRect">
            <a:avLst>
              <a:gd name="adj" fmla="val 5882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1828800" y="4400550"/>
            <a:ext cx="853440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76628" y="4648200"/>
            <a:ext cx="8238744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These numbers represent more than just statistics—they represent thousands of successful journeys, meaningful partnerships, and a legacy of trust built on years of expertise in the CIS region.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613356" y="6400800"/>
            <a:ext cx="35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10/12</a:t>
            </a:r>
            <a:endParaRPr lang="en-US" sz="1200" dirty="0"/>
          </a:p>
        </p:txBody>
      </p:sp>
      <p:pic>
        <p:nvPicPr>
          <p:cNvPr id="25" name="Image 0" descr="/var/folders/1y/yzhkrds14j1gm67qjvlds8tm7vvy2b/T/icon-icon-dnl64xu1m-17676648950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068" y="2495550"/>
            <a:ext cx="428625" cy="342900"/>
          </a:xfrm>
          <a:prstGeom prst="rect">
            <a:avLst/>
          </a:prstGeom>
        </p:spPr>
      </p:pic>
      <p:pic>
        <p:nvPicPr>
          <p:cNvPr id="26" name="Image 1" descr="/var/folders/1y/yzhkrds14j1gm67qjvlds8tm7vvy2b/T/icon-icon-clfe52hk0-176766489507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229" y="2381250"/>
            <a:ext cx="428625" cy="342900"/>
          </a:xfrm>
          <a:prstGeom prst="rect">
            <a:avLst/>
          </a:prstGeom>
        </p:spPr>
      </p:pic>
      <p:pic>
        <p:nvPicPr>
          <p:cNvPr id="27" name="Image 2" descr="/var/folders/1y/yzhkrds14j1gm67qjvlds8tm7vvy2b/T/icon-icon-27pik06be-17676648951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264" y="2381250"/>
            <a:ext cx="257175" cy="342900"/>
          </a:xfrm>
          <a:prstGeom prst="rect">
            <a:avLst/>
          </a:prstGeom>
        </p:spPr>
      </p:pic>
      <p:pic>
        <p:nvPicPr>
          <p:cNvPr id="28" name="Image 3" descr="/var/folders/1y/yzhkrds14j1gm67qjvlds8tm7vvy2b/T/icon-icon-4e5d87mvp-176766489514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142" y="2381250"/>
            <a:ext cx="300038" cy="342900"/>
          </a:xfrm>
          <a:prstGeom prst="rect">
            <a:avLst/>
          </a:prstGeom>
        </p:spPr>
      </p:pic>
      <p:pic>
        <p:nvPicPr>
          <p:cNvPr id="29" name="Image 4" descr="/var/folders/1y/yzhkrds14j1gm67qjvlds8tm7vvy2b/T/icon-icon-h3pvw9ejf-176766489517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6452" y="2381250"/>
            <a:ext cx="300038" cy="342900"/>
          </a:xfrm>
          <a:prstGeom prst="rect">
            <a:avLst/>
          </a:prstGeom>
        </p:spPr>
      </p:pic>
      <p:pic>
        <p:nvPicPr>
          <p:cNvPr id="30" name="Image 5" descr="/var/folders/1y/yzhkrds14j1gm67qjvlds8tm7vvy2b/T/icon-icon-xj510mblr-176766489520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3062" y="4686300"/>
            <a:ext cx="166688" cy="190500"/>
          </a:xfrm>
          <a:prstGeom prst="rect">
            <a:avLst/>
          </a:prstGeom>
        </p:spPr>
      </p:pic>
      <p:pic>
        <p:nvPicPr>
          <p:cNvPr id="31" name="Image 6" descr="/var/folders/1y/yzhkrds14j1gm67qjvlds8tm7vvy2b/T/icon-icon-6na0axnn6-176766489524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8240" y="5219700"/>
            <a:ext cx="166688" cy="190500"/>
          </a:xfrm>
          <a:prstGeom prst="rect">
            <a:avLst/>
          </a:prstGeom>
        </p:spPr>
      </p:pic>
      <p:pic>
        <p:nvPicPr>
          <p:cNvPr id="32" name="Image 7" descr="/var/folders/1y/yzhkrds14j1gm67qjvlds8tm7vvy2b/T/icon-icon-xj510mblr-176766489527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13062" y="4686300"/>
            <a:ext cx="166688" cy="190500"/>
          </a:xfrm>
          <a:prstGeom prst="rect">
            <a:avLst/>
          </a:prstGeom>
        </p:spPr>
      </p:pic>
      <p:pic>
        <p:nvPicPr>
          <p:cNvPr id="33" name="Image 8" descr="/var/folders/1y/yzhkrds14j1gm67qjvlds8tm7vvy2b/T/icon-icon-6na0axnn6-1767664895307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48240" y="5219700"/>
            <a:ext cx="166688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71723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45125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Partner for Success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3716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Succeed When Our Partners Succeed. Join forces with Dook Travels for mutual growth and unforgettable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371725"/>
            <a:ext cx="3454301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2390775"/>
            <a:ext cx="3454301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55750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08229" y="3629025"/>
            <a:ext cx="30570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 Agents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8229" y="4086225"/>
            <a:ext cx="30570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Join our exclusive network to unlock the most comprehensive CIS &amp; Turkey product portfolio and drive your business growth.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68701" y="2371725"/>
            <a:ext cx="3454450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368701" y="2390775"/>
            <a:ext cx="345445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4851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67328" y="3629025"/>
            <a:ext cx="30571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Corporates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67328" y="4086225"/>
            <a:ext cx="30571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Challenge us to design your next unforgettable incentive trip, conference, or company offsite.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7950" y="2371725"/>
            <a:ext cx="3454301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8127950" y="2390775"/>
            <a:ext cx="3454301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74101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326579" y="3629025"/>
            <a:ext cx="30570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Travelers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26579" y="4086225"/>
            <a:ext cx="30570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Book your next adventure with the confidence that you are traveling with the region's most trusted experts.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9872" y="633412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partners@dooktravels.com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|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www.dooktravels.com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656219" y="6715125"/>
            <a:ext cx="31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11/12</a:t>
            </a:r>
            <a:endParaRPr lang="en-US" sz="1200" dirty="0"/>
          </a:p>
        </p:txBody>
      </p:sp>
      <p:pic>
        <p:nvPicPr>
          <p:cNvPr id="23" name="Image 0" descr="/var/folders/1y/yzhkrds14j1gm67qjvlds8tm7vvy2b/T/icon-icon-j73wruohb-17676648971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2438" y="2847975"/>
            <a:ext cx="428625" cy="342900"/>
          </a:xfrm>
          <a:prstGeom prst="rect">
            <a:avLst/>
          </a:prstGeom>
        </p:spPr>
      </p:pic>
      <p:pic>
        <p:nvPicPr>
          <p:cNvPr id="24" name="Image 1" descr="/var/folders/1y/yzhkrds14j1gm67qjvlds8tm7vvy2b/T/icon-icon-x7z8aisaj-176766489717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264" y="2847975"/>
            <a:ext cx="257175" cy="342900"/>
          </a:xfrm>
          <a:prstGeom prst="rect">
            <a:avLst/>
          </a:prstGeom>
        </p:spPr>
      </p:pic>
      <p:pic>
        <p:nvPicPr>
          <p:cNvPr id="25" name="Image 2" descr="/var/folders/1y/yzhkrds14j1gm67qjvlds8tm7vvy2b/T/icon-icon-ag21q9pvy-17676648972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788" y="2847975"/>
            <a:ext cx="428625" cy="342900"/>
          </a:xfrm>
          <a:prstGeom prst="rect">
            <a:avLst/>
          </a:prstGeom>
        </p:spPr>
      </p:pic>
      <p:pic>
        <p:nvPicPr>
          <p:cNvPr id="26" name="Image 3" descr="/var/folders/1y/yzhkrds14j1gm67qjvlds8tm7vvy2b/T/icon-icon-m1bc991yp-176766489724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848" y="6362700"/>
            <a:ext cx="152400" cy="152400"/>
          </a:xfrm>
          <a:prstGeom prst="rect">
            <a:avLst/>
          </a:prstGeom>
        </p:spPr>
      </p:pic>
      <p:pic>
        <p:nvPicPr>
          <p:cNvPr id="27" name="Image 4" descr="/var/folders/1y/yzhkrds14j1gm67qjvlds8tm7vvy2b/T/icon-icon-gdggr4nk9-176766489727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3159" y="6362700"/>
            <a:ext cx="152400" cy="152400"/>
          </a:xfrm>
          <a:prstGeom prst="rect">
            <a:avLst/>
          </a:prstGeom>
        </p:spPr>
      </p:pic>
      <p:pic>
        <p:nvPicPr>
          <p:cNvPr id="28" name="Image 5" descr="/var/folders/1y/yzhkrds14j1gm67qjvlds8tm7vvy2b/T/icon-icon-m1bc991yp-176766489730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4848" y="6362700"/>
            <a:ext cx="152400" cy="152400"/>
          </a:xfrm>
          <a:prstGeom prst="rect">
            <a:avLst/>
          </a:prstGeom>
        </p:spPr>
      </p:pic>
      <p:pic>
        <p:nvPicPr>
          <p:cNvPr id="29" name="Image 6" descr="/var/folders/1y/yzhkrds14j1gm67qjvlds8tm7vvy2b/T/icon-icon-gdggr4nk9-176766489734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3159" y="6362700"/>
            <a:ext cx="1524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7429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343792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Contact &amp; Connect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3716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 for your interest in Dook Travels. We look forward to connecting with you and discussing how we can work together to create exceptional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09800"/>
            <a:ext cx="5334000" cy="110490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3888" y="2209800"/>
            <a:ext cx="0" cy="11049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9675" y="2457450"/>
            <a:ext cx="8376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Website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09675" y="2819400"/>
            <a:ext cx="45954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www.dooktravels.com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09600" y="3543300"/>
            <a:ext cx="5334000" cy="1371600"/>
          </a:xfrm>
          <a:prstGeom prst="roundRect">
            <a:avLst>
              <a:gd name="adj" fmla="val 555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23888" y="3543300"/>
            <a:ext cx="0" cy="13716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09675" y="3790950"/>
            <a:ext cx="8821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Us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09675" y="4152900"/>
            <a:ext cx="4595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Partnerships &amp; MICE: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partners@dooktravels.com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09675" y="4457700"/>
            <a:ext cx="4595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General Inquiries: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info@dooktravels.com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600" y="5143500"/>
            <a:ext cx="5334000" cy="110490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3888" y="5143500"/>
            <a:ext cx="0" cy="11049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9675" y="5391150"/>
            <a:ext cx="6620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Phone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09675" y="5753100"/>
            <a:ext cx="45954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[Your Primary Contact Number]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48400" y="2209800"/>
            <a:ext cx="53340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77000" y="2438400"/>
            <a:ext cx="49743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Follow Our Journey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69548" y="3314700"/>
            <a:ext cx="7600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Facebook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42950" y="3314700"/>
            <a:ext cx="7989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Instagram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8400" y="4152900"/>
            <a:ext cx="5334000" cy="2286000"/>
          </a:xfrm>
          <a:prstGeom prst="roundRect">
            <a:avLst>
              <a:gd name="adj" fmla="val 3333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77000" y="4381500"/>
            <a:ext cx="49743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Ready to Partner with the Best?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77000" y="4800600"/>
            <a:ext cx="4974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Join our exclusive network or request a quote for your next business travel program.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77000" y="5410200"/>
            <a:ext cx="2487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Unparalleled expertise in CIS &amp; Turkey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915400" y="5410200"/>
            <a:ext cx="2487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First-mover advantage since 2010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77000" y="5905500"/>
            <a:ext cx="24871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Indian-centric solutions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915400" y="5905500"/>
            <a:ext cx="24871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 on-ground infrastructure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623179" y="6972300"/>
            <a:ext cx="3470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12/12</a:t>
            </a:r>
            <a:endParaRPr lang="en-US" sz="1200" dirty="0"/>
          </a:p>
        </p:txBody>
      </p:sp>
      <p:pic>
        <p:nvPicPr>
          <p:cNvPr id="31" name="Image 0" descr="/var/folders/1y/yzhkrds14j1gm67qjvlds8tm7vvy2b/T/icon-icon-gm4l9c4f0-17676648992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775" y="2438400"/>
            <a:ext cx="228600" cy="304800"/>
          </a:xfrm>
          <a:prstGeom prst="rect">
            <a:avLst/>
          </a:prstGeom>
        </p:spPr>
      </p:pic>
      <p:pic>
        <p:nvPicPr>
          <p:cNvPr id="32" name="Image 1" descr="/var/folders/1y/yzhkrds14j1gm67qjvlds8tm7vvy2b/T/icon-icon-qqymtncb2-176766489924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3771900"/>
            <a:ext cx="228600" cy="304800"/>
          </a:xfrm>
          <a:prstGeom prst="rect">
            <a:avLst/>
          </a:prstGeom>
        </p:spPr>
      </p:pic>
      <p:pic>
        <p:nvPicPr>
          <p:cNvPr id="33" name="Image 2" descr="/var/folders/1y/yzhkrds14j1gm67qjvlds8tm7vvy2b/T/icon-icon-k4avse6r5-176766489927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675" y="4191000"/>
            <a:ext cx="190500" cy="152400"/>
          </a:xfrm>
          <a:prstGeom prst="rect">
            <a:avLst/>
          </a:prstGeom>
        </p:spPr>
      </p:pic>
      <p:pic>
        <p:nvPicPr>
          <p:cNvPr id="34" name="Image 3" descr="/var/folders/1y/yzhkrds14j1gm67qjvlds8tm7vvy2b/T/icon-icon-k4avse6r5-176766489930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9675" y="4191000"/>
            <a:ext cx="190500" cy="152400"/>
          </a:xfrm>
          <a:prstGeom prst="rect">
            <a:avLst/>
          </a:prstGeom>
        </p:spPr>
      </p:pic>
      <p:pic>
        <p:nvPicPr>
          <p:cNvPr id="35" name="Image 4" descr="/var/folders/1y/yzhkrds14j1gm67qjvlds8tm7vvy2b/T/icon-icon-nqoefdiiq-176766489934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9675" y="4495800"/>
            <a:ext cx="152400" cy="152400"/>
          </a:xfrm>
          <a:prstGeom prst="rect">
            <a:avLst/>
          </a:prstGeom>
        </p:spPr>
      </p:pic>
      <p:pic>
        <p:nvPicPr>
          <p:cNvPr id="36" name="Image 5" descr="/var/folders/1y/yzhkrds14j1gm67qjvlds8tm7vvy2b/T/icon-icon-nqoefdiiq-176766489937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9675" y="4495800"/>
            <a:ext cx="152400" cy="152400"/>
          </a:xfrm>
          <a:prstGeom prst="rect">
            <a:avLst/>
          </a:prstGeom>
        </p:spPr>
      </p:pic>
      <p:pic>
        <p:nvPicPr>
          <p:cNvPr id="37" name="Image 6" descr="/var/folders/1y/yzhkrds14j1gm67qjvlds8tm7vvy2b/T/icon-icon-ufvpohcgz-176766489940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5372100"/>
            <a:ext cx="228600" cy="304800"/>
          </a:xfrm>
          <a:prstGeom prst="rect">
            <a:avLst/>
          </a:prstGeom>
        </p:spPr>
      </p:pic>
      <p:pic>
        <p:nvPicPr>
          <p:cNvPr id="38" name="Image 7" descr="/var/folders/1y/yzhkrds14j1gm67qjvlds8tm7vvy2b/T/icon-icon-yro73zelu-176766489944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2361" y="2876550"/>
            <a:ext cx="214313" cy="342900"/>
          </a:xfrm>
          <a:prstGeom prst="rect">
            <a:avLst/>
          </a:prstGeom>
        </p:spPr>
      </p:pic>
      <p:pic>
        <p:nvPicPr>
          <p:cNvPr id="39" name="Image 8" descr="/var/folders/1y/yzhkrds14j1gm67qjvlds8tm7vvy2b/T/icon-icon-oqbsbf944-176766489947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2330" y="2876550"/>
            <a:ext cx="300038" cy="342900"/>
          </a:xfrm>
          <a:prstGeom prst="rect">
            <a:avLst/>
          </a:prstGeom>
        </p:spPr>
      </p:pic>
      <p:pic>
        <p:nvPicPr>
          <p:cNvPr id="40" name="Image 9" descr="/var/folders/1y/yzhkrds14j1gm67qjvlds8tm7vvy2b/T/icon-icon-rhq8u40ve-1767664899507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5438775"/>
            <a:ext cx="133350" cy="133350"/>
          </a:xfrm>
          <a:prstGeom prst="rect">
            <a:avLst/>
          </a:prstGeom>
        </p:spPr>
      </p:pic>
      <p:pic>
        <p:nvPicPr>
          <p:cNvPr id="41" name="Image 10" descr="/var/folders/1y/yzhkrds14j1gm67qjvlds8tm7vvy2b/T/icon-icon-rhq8u40ve-1767664899542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5438775"/>
            <a:ext cx="133350" cy="133350"/>
          </a:xfrm>
          <a:prstGeom prst="rect">
            <a:avLst/>
          </a:prstGeom>
        </p:spPr>
      </p:pic>
      <p:pic>
        <p:nvPicPr>
          <p:cNvPr id="42" name="Image 11" descr="/var/folders/1y/yzhkrds14j1gm67qjvlds8tm7vvy2b/T/icon-icon-lvmow85vq-176766489957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15400" y="5438775"/>
            <a:ext cx="133350" cy="133350"/>
          </a:xfrm>
          <a:prstGeom prst="rect">
            <a:avLst/>
          </a:prstGeom>
        </p:spPr>
      </p:pic>
      <p:pic>
        <p:nvPicPr>
          <p:cNvPr id="43" name="Image 12" descr="/var/folders/1y/yzhkrds14j1gm67qjvlds8tm7vvy2b/T/icon-icon-lvmow85vq-1767664899607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15400" y="5438775"/>
            <a:ext cx="133350" cy="133350"/>
          </a:xfrm>
          <a:prstGeom prst="rect">
            <a:avLst/>
          </a:prstGeom>
        </p:spPr>
      </p:pic>
      <p:pic>
        <p:nvPicPr>
          <p:cNvPr id="44" name="Image 13" descr="/var/folders/1y/yzhkrds14j1gm67qjvlds8tm7vvy2b/T/icon-icon-8qift7e6h-1767664899642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5934075"/>
            <a:ext cx="133350" cy="133350"/>
          </a:xfrm>
          <a:prstGeom prst="rect">
            <a:avLst/>
          </a:prstGeom>
        </p:spPr>
      </p:pic>
      <p:pic>
        <p:nvPicPr>
          <p:cNvPr id="45" name="Image 14" descr="/var/folders/1y/yzhkrds14j1gm67qjvlds8tm7vvy2b/T/icon-icon-8qift7e6h-1767664899683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0" y="5934075"/>
            <a:ext cx="133350" cy="133350"/>
          </a:xfrm>
          <a:prstGeom prst="rect">
            <a:avLst/>
          </a:prstGeom>
        </p:spPr>
      </p:pic>
      <p:pic>
        <p:nvPicPr>
          <p:cNvPr id="46" name="Image 15" descr="/var/folders/1y/yzhkrds14j1gm67qjvlds8tm7vvy2b/T/icon-icon-wuz8gb6hq-1767664899717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15400" y="5934075"/>
            <a:ext cx="133350" cy="133350"/>
          </a:xfrm>
          <a:prstGeom prst="rect">
            <a:avLst/>
          </a:prstGeom>
        </p:spPr>
      </p:pic>
      <p:pic>
        <p:nvPicPr>
          <p:cNvPr id="47" name="Image 16" descr="/var/folders/1y/yzhkrds14j1gm67qjvlds8tm7vvy2b/T/icon-icon-wuz8gb6hq-1767664899757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915400" y="5934075"/>
            <a:ext cx="133350" cy="1333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2026-01-06T02:01:40Z</dcterms:created>
  <dcterms:modified xsi:type="dcterms:W3CDTF">2026-01-06T02:01:40Z</dcterms:modified>
</cp:coreProperties>
</file>