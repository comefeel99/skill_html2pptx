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image" Target="../media/image-7-21.png"/><Relationship Id="rId22" Type="http://schemas.openxmlformats.org/officeDocument/2006/relationships/image" Target="../media/image-7-22.png"/><Relationship Id="rId23" Type="http://schemas.openxmlformats.org/officeDocument/2006/relationships/image" Target="../media/image-7-23.png"/><Relationship Id="rId24" Type="http://schemas.openxmlformats.org/officeDocument/2006/relationships/image" Target="../media/image-7-24.png"/><Relationship Id="rId25" Type="http://schemas.openxmlformats.org/officeDocument/2006/relationships/image" Target="../media/image-7-25.png"/><Relationship Id="rId26" Type="http://schemas.openxmlformats.org/officeDocument/2006/relationships/image" Target="../media/image-7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image" Target="../media/image-9-24.png"/><Relationship Id="rId25" Type="http://schemas.openxmlformats.org/officeDocument/2006/relationships/image" Target="../media/image-9-25.png"/><Relationship Id="rId26" Type="http://schemas.openxmlformats.org/officeDocument/2006/relationships/image" Target="../media/image-9-26.png"/><Relationship Id="rId27" Type="http://schemas.openxmlformats.org/officeDocument/2006/relationships/image" Target="../media/image-9-27.png"/><Relationship Id="rId28" Type="http://schemas.openxmlformats.org/officeDocument/2006/relationships/image" Target="../media/image-9-28.png"/><Relationship Id="rId29" Type="http://schemas.openxmlformats.org/officeDocument/2006/relationships/image" Target="../media/image-9-29.png"/><Relationship Id="rId30" Type="http://schemas.openxmlformats.org/officeDocument/2006/relationships/image" Target="../media/image-9-30.png"/><Relationship Id="rId31" Type="http://schemas.openxmlformats.org/officeDocument/2006/relationships/image" Target="../media/image-9-31.png"/><Relationship Id="rId32" Type="http://schemas.openxmlformats.org/officeDocument/2006/relationships/image" Target="../media/image-9-32.png"/><Relationship Id="rId33" Type="http://schemas.openxmlformats.org/officeDocument/2006/relationships/image" Target="../media/image-9-33.png"/><Relationship Id="rId34" Type="http://schemas.openxmlformats.org/officeDocument/2006/relationships/image" Target="../media/image-9-34.png"/><Relationship Id="rId35" Type="http://schemas.openxmlformats.org/officeDocument/2006/relationships/image" Target="../media/image-9-35.png"/><Relationship Id="rId36" Type="http://schemas.openxmlformats.org/officeDocument/2006/relationships/image" Target="../media/image-9-36.png"/><Relationship Id="rId37" Type="http://schemas.openxmlformats.org/officeDocument/2006/relationships/image" Target="../media/image-9-37.png"/><Relationship Id="rId38" Type="http://schemas.openxmlformats.org/officeDocument/2006/relationships/image" Target="../media/image-9-38.png"/><Relationship Id="rId39" Type="http://schemas.openxmlformats.org/officeDocument/2006/relationships/image" Target="../media/image-9-39.png"/><Relationship Id="rId40" Type="http://schemas.openxmlformats.org/officeDocument/2006/relationships/image" Target="../media/image-9-40.png"/><Relationship Id="rId41" Type="http://schemas.openxmlformats.org/officeDocument/2006/relationships/slideLayout" Target="../slideLayouts/slideLayout1.xml"/><Relationship Id="rId4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https://picture-search.skywork.ai/aippt/image/sheet/5b80969d4b5709ad5086c8844dadce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000250"/>
            <a:ext cx="9144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914400" y="2305050"/>
            <a:ext cx="3136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spcAft>
                <a:spcPts val="12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914400" y="3028950"/>
            <a:ext cx="71884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Premier DMC for CIS Countries &amp; Turkey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638550"/>
            <a:ext cx="586148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3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Journeys. Unmatched Expertise. Shared Success.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4362450"/>
            <a:ext cx="2846636" cy="495300"/>
          </a:xfrm>
          <a:prstGeom prst="roundRect">
            <a:avLst>
              <a:gd name="adj" fmla="val 15385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143000" y="4476750"/>
            <a:ext cx="24372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B2B &amp; Partner Presentation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14400" y="6134100"/>
            <a:ext cx="8053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2025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145042" y="6172200"/>
            <a:ext cx="17088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200" dirty="0"/>
          </a:p>
        </p:txBody>
      </p:sp>
      <p:pic>
        <p:nvPicPr>
          <p:cNvPr id="12" name="Image 1" descr="/var/folders/1y/yzhkrds14j1gm67qjvlds8tm7vvy2b/T/icon-bg-c50fli3wy-17676638123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 2" descr="/var/folders/1y/yzhkrds14j1gm67qjvlds8tm7vvy2b/T/icon-icon-ouaj0wnuj-176766381247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0" y="6200775"/>
            <a:ext cx="95250" cy="152400"/>
          </a:xfrm>
          <a:prstGeom prst="rect">
            <a:avLst/>
          </a:prstGeom>
        </p:spPr>
      </p:pic>
      <p:pic>
        <p:nvPicPr>
          <p:cNvPr id="14" name="Image 3" descr="/var/folders/1y/yzhkrds14j1gm67qjvlds8tm7vvy2b/T/icon-icon-pvqkmehbe-17676638125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250" y="6200775"/>
            <a:ext cx="1333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8527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About Dook Travels: The CIS Pioneers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didn't just enter the market—we created it. Since 2010, Dook Travels has been the trailblazer introducing CIS destinations like Uzbekistan and Russia to the Indian &amp; South Asian market. Our journey has been defined by innovation, trust, and a commitment to providing unparalleled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7788" y="2776538"/>
            <a:ext cx="94392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Lakh+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763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 have explored with us, experiencing the magic of the CIS region.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434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624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1588" y="2776538"/>
            <a:ext cx="9202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0100" y="3252788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agents trust Dook Travels to deliver exceptional value and service.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772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0962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72513" y="2776538"/>
            <a:ext cx="59598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439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rely on us for their incentive tours and business travel needs.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4471988"/>
            <a:ext cx="10972800" cy="1533525"/>
          </a:xfrm>
          <a:prstGeom prst="roundRect">
            <a:avLst>
              <a:gd name="adj" fmla="val 496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09600" y="4491038"/>
            <a:ext cx="109728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200" y="4738688"/>
            <a:ext cx="107259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8200" y="5157788"/>
            <a:ext cx="10725912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provide unparalleled value, seamless execution, and authentic travel experiences across our specialized destinations.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678096" y="6400800"/>
            <a:ext cx="291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2/12</a:t>
            </a:r>
            <a:endParaRPr lang="en-US" sz="1200" dirty="0"/>
          </a:p>
        </p:txBody>
      </p:sp>
      <p:pic>
        <p:nvPicPr>
          <p:cNvPr id="23" name="Image 0" descr="/var/folders/1y/yzhkrds14j1gm67qjvlds8tm7vvy2b/T/icon-icon-mfol73pfp-176766381433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776538"/>
            <a:ext cx="357188" cy="285750"/>
          </a:xfrm>
          <a:prstGeom prst="rect">
            <a:avLst/>
          </a:prstGeom>
        </p:spPr>
      </p:pic>
      <p:pic>
        <p:nvPicPr>
          <p:cNvPr id="24" name="Image 1" descr="/var/folders/1y/yzhkrds14j1gm67qjvlds8tm7vvy2b/T/icon-icon-rspdg49qk-176766381437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776538"/>
            <a:ext cx="357188" cy="285750"/>
          </a:xfrm>
          <a:prstGeom prst="rect">
            <a:avLst/>
          </a:prstGeom>
        </p:spPr>
      </p:pic>
      <p:pic>
        <p:nvPicPr>
          <p:cNvPr id="25" name="Image 2" descr="/var/folders/1y/yzhkrds14j1gm67qjvlds8tm7vvy2b/T/icon-icon-f1htk1msd-17676638144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0" y="2776538"/>
            <a:ext cx="214313" cy="285750"/>
          </a:xfrm>
          <a:prstGeom prst="rect">
            <a:avLst/>
          </a:prstGeom>
        </p:spPr>
      </p:pic>
      <p:pic>
        <p:nvPicPr>
          <p:cNvPr id="26" name="Image 3" descr="/var/folders/1y/yzhkrds14j1gm67qjvlds8tm7vvy2b/T/icon-icon-8bpk0dhoe-176766381444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  <p:pic>
        <p:nvPicPr>
          <p:cNvPr id="27" name="Image 4" descr="/var/folders/1y/yzhkrds14j1gm67qjvlds8tm7vvy2b/T/icon-icon-8bpk0dhoe-176766381448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61443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Journey of Innovation &amp; Growth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humble beginnings to becoming the undisputed leader in CIS &amp; Turkey tourism, Dook Travels has evolved through decades of innovation, expansion, and technological advancement.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971800"/>
            <a:ext cx="10972800" cy="381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050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620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07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2010-2011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07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Beginning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0788" y="4524375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Pioneered group tours to Uzbekistan &amp; Russia, opening a new frontier for Indian travelers.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82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052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5052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39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2012-2016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139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 Expansion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7139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Systematically expanded our footprint across the CIS, adding Kazakhstan, Georgia, Armenia, and Azerbaijan.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914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484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2484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71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2017-2020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571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 Diversification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571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Strengthened our MICE &amp; Corporate travel division, becoming the go-to expert for large-scale incentive tours.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1346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9916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9916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003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2023 &amp; Beyond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2003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&amp; New Horizons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200388" y="4524375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Launched our state-of-the-art B2B booking portal and expanded our portfolio to include Turkey and key Eastern European destinations.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680180" y="6400800"/>
            <a:ext cx="288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3/12</a:t>
            </a:r>
            <a:endParaRPr lang="en-US" sz="1200" dirty="0"/>
          </a:p>
        </p:txBody>
      </p:sp>
      <p:pic>
        <p:nvPicPr>
          <p:cNvPr id="32" name="Image 0" descr="/var/folders/1y/yzhkrds14j1gm67qjvlds8tm7vvy2b/T/icon-icon-8p2e6d1zv-176766381636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750" y="3248025"/>
            <a:ext cx="342900" cy="342900"/>
          </a:xfrm>
          <a:prstGeom prst="rect">
            <a:avLst/>
          </a:prstGeom>
        </p:spPr>
      </p:pic>
      <p:pic>
        <p:nvPicPr>
          <p:cNvPr id="33" name="Image 1" descr="/var/folders/1y/yzhkrds14j1gm67qjvlds8tm7vvy2b/T/icon-icon-wh1e0ekjb-17676638164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2950" y="3248025"/>
            <a:ext cx="342900" cy="342900"/>
          </a:xfrm>
          <a:prstGeom prst="rect">
            <a:avLst/>
          </a:prstGeom>
        </p:spPr>
      </p:pic>
      <p:pic>
        <p:nvPicPr>
          <p:cNvPr id="34" name="Image 2" descr="/var/folders/1y/yzhkrds14j1gm67qjvlds8tm7vvy2b/T/icon-icon-rcie3v039-176766381643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719" y="3248025"/>
            <a:ext cx="385763" cy="342900"/>
          </a:xfrm>
          <a:prstGeom prst="rect">
            <a:avLst/>
          </a:prstGeom>
        </p:spPr>
      </p:pic>
      <p:pic>
        <p:nvPicPr>
          <p:cNvPr id="35" name="Image 3" descr="/var/folders/1y/yzhkrds14j1gm67qjvlds8tm7vvy2b/T/icon-icon-poza6m8hj-17676638164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9350" y="3248025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584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Advantage: Why We Lead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 establishes its market leadership through four key pillars that deliver superior value and exceptional service to our partners and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8200" y="2476500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81150" y="2476500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Expertise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81150" y="2857500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 years of specialized, on-the-ground experience in a region others are just discovering.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84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84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476500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48513" y="2476500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48513" y="2857500"/>
            <a:ext cx="42893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Fully-owned offices, transport fleets, and even our own Indian restaurants in key destinations.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096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200" y="4257675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509713" y="4257675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9713" y="4638675"/>
            <a:ext cx="42893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understanding of the needs of the Indian traveler—from cuisine to comfort—and deliver solutions no one else can.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4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2484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7000" y="4257675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19950" y="4257675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Service Ecosystem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19950" y="4638675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partner for everything: FIT, Group Tours, MICE, Visas, and more.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61279" y="6400800"/>
            <a:ext cx="308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4/12</a:t>
            </a:r>
            <a:endParaRPr lang="en-US" sz="1200" dirty="0"/>
          </a:p>
        </p:txBody>
      </p:sp>
      <p:pic>
        <p:nvPicPr>
          <p:cNvPr id="27" name="Image 0" descr="/var/folders/1y/yzhkrds14j1gm67qjvlds8tm7vvy2b/T/icon-icon-n0l3ubcvs-17676638183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2647950"/>
            <a:ext cx="285750" cy="285750"/>
          </a:xfrm>
          <a:prstGeom prst="rect">
            <a:avLst/>
          </a:prstGeom>
        </p:spPr>
      </p:pic>
      <p:pic>
        <p:nvPicPr>
          <p:cNvPr id="28" name="Image 1" descr="/var/folders/1y/yzhkrds14j1gm67qjvlds8tm7vvy2b/T/icon-icon-1lmi6k4fs-176766381835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47950"/>
            <a:ext cx="214313" cy="285750"/>
          </a:xfrm>
          <a:prstGeom prst="rect">
            <a:avLst/>
          </a:prstGeom>
        </p:spPr>
      </p:pic>
      <p:pic>
        <p:nvPicPr>
          <p:cNvPr id="29" name="Image 2" descr="/var/folders/1y/yzhkrds14j1gm67qjvlds8tm7vvy2b/T/icon-icon-rq8bffcib-176766381838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4429125"/>
            <a:ext cx="214313" cy="285750"/>
          </a:xfrm>
          <a:prstGeom prst="rect">
            <a:avLst/>
          </a:prstGeom>
        </p:spPr>
      </p:pic>
      <p:pic>
        <p:nvPicPr>
          <p:cNvPr id="30" name="Image 3" descr="/var/folders/1y/yzhkrds14j1gm67qjvlds8tm7vvy2b/T/icon-icon-6vcijxy5k-176766381842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4291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1248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351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Unmatched Expertise in the CIS &amp; Turkey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Destination mastery is in our DNA. For over a decade, we've been pioneering journeys across the CIS and Turkey, developing specialized knowledge and innovative approaches that set us apart.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219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3950" y="2409825"/>
            <a:ext cx="23607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Innovation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828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constantly "invent" new travel circuits and experiences, moving beyond standard itineraries to offer authentic, memorable journeys that showcase the unique aspects of each destination.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4124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8650" y="4124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1100" y="4314825"/>
            <a:ext cx="2264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Logistical Prowess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8200" y="4733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specialize in complex, multi-country tours, ensuring a seamless and hassle-free experience for groups and FITs alike. Our expertise lies in coordinating elaborate itineraries across borders with precision.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6029325"/>
            <a:ext cx="5372100" cy="1485900"/>
          </a:xfrm>
          <a:prstGeom prst="roundRect">
            <a:avLst>
              <a:gd name="adj" fmla="val 512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8650" y="6029325"/>
            <a:ext cx="0" cy="14859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9675" y="6219825"/>
            <a:ext cx="28135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Local Knowledge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8200" y="6638925"/>
            <a:ext cx="50520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teams possess intimate knowledge of the culture, logistics, and hidden gems of every destination we operate in. This allows us to provide authentic experiences that others miss.</a:t>
            </a:r>
            <a:endParaRPr lang="en-US" sz="1200" dirty="0"/>
          </a:p>
        </p:txBody>
      </p:sp>
      <p:pic>
        <p:nvPicPr>
          <p:cNvPr id="18" name="Image 0" descr="https://picture-search.skywork.ai/aippt/image/sheet/750562dc633564e178440be2947f77b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0300" y="3581102"/>
            <a:ext cx="5372100" cy="222929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210300" y="5810399"/>
            <a:ext cx="5372100" cy="3429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234303" y="5886599"/>
            <a:ext cx="53240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Registan Square, Samarkand - One of our many mastered destinations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680031" y="7667625"/>
            <a:ext cx="289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5/12</a:t>
            </a:r>
            <a:endParaRPr lang="en-US" sz="1200" dirty="0"/>
          </a:p>
        </p:txBody>
      </p:sp>
      <p:pic>
        <p:nvPicPr>
          <p:cNvPr id="22" name="Image 1" descr="/var/folders/1y/yzhkrds14j1gm67qjvlds8tm7vvy2b/T/icon-icon-9ao90q44e-176766382025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38400"/>
            <a:ext cx="171450" cy="228600"/>
          </a:xfrm>
          <a:prstGeom prst="rect">
            <a:avLst/>
          </a:prstGeom>
        </p:spPr>
      </p:pic>
      <p:pic>
        <p:nvPicPr>
          <p:cNvPr id="23" name="Image 2" descr="/var/folders/1y/yzhkrds14j1gm67qjvlds8tm7vvy2b/T/icon-icon-va4tkglsk-17676638203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343400"/>
            <a:ext cx="228600" cy="228600"/>
          </a:xfrm>
          <a:prstGeom prst="rect">
            <a:avLst/>
          </a:prstGeom>
        </p:spPr>
      </p:pic>
      <p:pic>
        <p:nvPicPr>
          <p:cNvPr id="24" name="Image 3" descr="/var/folders/1y/yzhkrds14j1gm67qjvlds8tm7vvy2b/T/icon-icon-r4v4ds9hb-176766382033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6248400"/>
            <a:ext cx="257175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1037357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On-Ground Infrastructure: Your Assurance of Quality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We're not just present—we're invested. Dook Travels has established robust on-the-ground infrastructure to ensure seamless execution of every travel program in the CIS region.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6300" y="2371725"/>
            <a:ext cx="514350" cy="647700"/>
          </a:xfrm>
          <a:prstGeom prst="roundRect">
            <a:avLst>
              <a:gd name="adj" fmla="val 18516667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04950" y="2543175"/>
            <a:ext cx="220906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Physical Presence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6300" y="3171825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Fully-staffed offices in 9+ countries across the CIS region, including: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6300" y="4505325"/>
            <a:ext cx="3070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real-time, on-the-ground support.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624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0100" y="2371725"/>
            <a:ext cx="542925" cy="647700"/>
          </a:xfrm>
          <a:prstGeom prst="roundRect">
            <a:avLst>
              <a:gd name="adj" fmla="val 17542105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67325" y="2543175"/>
            <a:ext cx="23059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 Restaurants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10100" y="3171825"/>
            <a:ext cx="3070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are one of the only DMCs to operate our 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 chain of Indian restaurants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in key CIS locations, solving the number one concern for Indian travelers.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38700" y="4467225"/>
            <a:ext cx="22099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taste of home, guaranteed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772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0962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2371725"/>
            <a:ext cx="628650" cy="647700"/>
          </a:xfrm>
          <a:prstGeom prst="roundRect">
            <a:avLst>
              <a:gd name="adj" fmla="val 1515000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086850" y="2390775"/>
            <a:ext cx="2312289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 Relationships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43900" y="3171825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Long-standing, exclusive relationships with the best hotels and transport providers, ensuring: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72500" y="4010025"/>
            <a:ext cx="11333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Priority service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72500" y="4314825"/>
            <a:ext cx="263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rates for our partners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09600" y="5267325"/>
            <a:ext cx="10972800" cy="952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09600" y="5286375"/>
            <a:ext cx="109728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0150" y="5495925"/>
            <a:ext cx="1039558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assurance of quality: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Dook Travels' robust infrastructure provides a level of support and service that other DMCs simply cannot match.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671846" y="6400800"/>
            <a:ext cx="2973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6/12</a:t>
            </a:r>
            <a:endParaRPr lang="en-US" sz="1200" dirty="0"/>
          </a:p>
        </p:txBody>
      </p:sp>
      <p:pic>
        <p:nvPicPr>
          <p:cNvPr id="29" name="Image 0" descr="/var/folders/1y/yzhkrds14j1gm67qjvlds8tm7vvy2b/T/icon-icon-m3ok84rg3-176766382214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2543175"/>
            <a:ext cx="171450" cy="304800"/>
          </a:xfrm>
          <a:prstGeom prst="rect">
            <a:avLst/>
          </a:prstGeom>
        </p:spPr>
      </p:pic>
      <p:pic>
        <p:nvPicPr>
          <p:cNvPr id="30" name="Image 1" descr="/var/folders/1y/yzhkrds14j1gm67qjvlds8tm7vvy2b/T/icon-icon-5cxh9t14n-176766382218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2543175"/>
            <a:ext cx="200025" cy="304800"/>
          </a:xfrm>
          <a:prstGeom prst="rect">
            <a:avLst/>
          </a:prstGeom>
        </p:spPr>
      </p:pic>
      <p:pic>
        <p:nvPicPr>
          <p:cNvPr id="31" name="Image 2" descr="/var/folders/1y/yzhkrds14j1gm67qjvlds8tm7vvy2b/T/icon-icon-2gnpq7yjz-176766382222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0" y="4505325"/>
            <a:ext cx="152400" cy="152400"/>
          </a:xfrm>
          <a:prstGeom prst="rect">
            <a:avLst/>
          </a:prstGeom>
        </p:spPr>
      </p:pic>
      <p:pic>
        <p:nvPicPr>
          <p:cNvPr id="32" name="Image 3" descr="/var/folders/1y/yzhkrds14j1gm67qjvlds8tm7vvy2b/T/icon-icon-2lskj2lfh-176766382226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5350" y="2543175"/>
            <a:ext cx="285750" cy="304800"/>
          </a:xfrm>
          <a:prstGeom prst="rect">
            <a:avLst/>
          </a:prstGeom>
        </p:spPr>
      </p:pic>
      <p:pic>
        <p:nvPicPr>
          <p:cNvPr id="33" name="Image 4" descr="/var/folders/1y/yzhkrds14j1gm67qjvlds8tm7vvy2b/T/icon-icon-ijq64wfmd-176766382229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3900" y="4048125"/>
            <a:ext cx="152400" cy="152400"/>
          </a:xfrm>
          <a:prstGeom prst="rect">
            <a:avLst/>
          </a:prstGeom>
        </p:spPr>
      </p:pic>
      <p:pic>
        <p:nvPicPr>
          <p:cNvPr id="34" name="Image 5" descr="/var/folders/1y/yzhkrds14j1gm67qjvlds8tm7vvy2b/T/icon-icon-35ugpubef-176766382232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3900" y="4352925"/>
            <a:ext cx="152400" cy="152400"/>
          </a:xfrm>
          <a:prstGeom prst="rect">
            <a:avLst/>
          </a:prstGeom>
        </p:spPr>
      </p:pic>
      <p:pic>
        <p:nvPicPr>
          <p:cNvPr id="35" name="Image 6" descr="/var/folders/1y/yzhkrds14j1gm67qjvlds8tm7vvy2b/T/icon-icon-zvz8lsrnq-176766382236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56102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86680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Comprehensive Solutions for Every Travel Need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one-stop solution for all travel requirements, tailored to each segment's unique needs.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09688" y="2000250"/>
            <a:ext cx="213270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Largest portfolio of fixed departures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Customizable FITs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 confirmations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82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572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Streamline operations with our powerful B2B booking portal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434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34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0613" y="2000250"/>
            <a:ext cx="1799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pic>
        <p:nvPicPr>
          <p:cNvPr id="16" name="Image 0" descr="https://picture-search.skywork.ai/aippt/image/sheet/2d77e86ba1b72bd0ea07c14986ab2b6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476500"/>
            <a:ext cx="3048000" cy="1219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572000" y="3810000"/>
            <a:ext cx="304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Proven expertise in incentive tours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Offsites and conferences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0" y="45339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4591050" y="45339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24400" y="46482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Flawless execution for 500+ leading companies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772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80772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77288" y="2000250"/>
            <a:ext cx="1564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3058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All-inclusive holiday packages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Value-driven pricing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Authentic Indian meals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3058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83248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582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Worry-free travel with premium hotels and flights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1683008" y="6400800"/>
            <a:ext cx="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7/12</a:t>
            </a:r>
            <a:endParaRPr lang="en-US" sz="1200" dirty="0"/>
          </a:p>
        </p:txBody>
      </p:sp>
      <p:pic>
        <p:nvPicPr>
          <p:cNvPr id="29" name="Image 1" descr="/var/folders/1y/yzhkrds14j1gm67qjvlds8tm7vvy2b/T/icon-icon-ikhc9ux8z-17676638242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00250"/>
            <a:ext cx="357188" cy="285750"/>
          </a:xfrm>
          <a:prstGeom prst="rect">
            <a:avLst/>
          </a:prstGeom>
        </p:spPr>
      </p:pic>
      <p:pic>
        <p:nvPicPr>
          <p:cNvPr id="30" name="Image 2" descr="/var/folders/1y/yzhkrds14j1gm67qjvlds8tm7vvy2b/T/icon-icon-rat9iirga-176766382426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1" name="Image 3" descr="/var/folders/1y/yzhkrds14j1gm67qjvlds8tm7vvy2b/T/icon-icon-namz1eger-17676638243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2" name="Image 4" descr="/var/folders/1y/yzhkrds14j1gm67qjvlds8tm7vvy2b/T/icon-icon-lvt7k9xw1-176766382433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3" name="Image 5" descr="/var/folders/1y/yzhkrds14j1gm67qjvlds8tm7vvy2b/T/icon-icon-rat9iirga-176766382437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4" name="Image 6" descr="/var/folders/1y/yzhkrds14j1gm67qjvlds8tm7vvy2b/T/icon-icon-namz1eger-176766382440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5" name="Image 7" descr="/var/folders/1y/yzhkrds14j1gm67qjvlds8tm7vvy2b/T/icon-icon-lvt7k9xw1-176766382443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6" name="Image 8" descr="/var/folders/1y/yzhkrds14j1gm67qjvlds8tm7vvy2b/T/icon-icon-kb0x3hong-1767663824470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7" name="Image 9" descr="/var/folders/1y/yzhkrds14j1gm67qjvlds8tm7vvy2b/T/icon-icon-kb0x3hong-176766382451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8" name="Image 10" descr="/var/folders/1y/yzhkrds14j1gm67qjvlds8tm7vvy2b/T/icon-icon-iw8yulqhe-176766382454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2000250"/>
            <a:ext cx="214313" cy="285750"/>
          </a:xfrm>
          <a:prstGeom prst="rect">
            <a:avLst/>
          </a:prstGeom>
        </p:spPr>
      </p:pic>
      <p:pic>
        <p:nvPicPr>
          <p:cNvPr id="39" name="Image 11" descr="/var/folders/1y/yzhkrds14j1gm67qjvlds8tm7vvy2b/T/icon-icon-mxzzj11k9-1767663824577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0" name="Image 12" descr="/var/folders/1y/yzhkrds14j1gm67qjvlds8tm7vvy2b/T/icon-icon-70n7bamfl-176766382461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1" name="Image 13" descr="/var/folders/1y/yzhkrds14j1gm67qjvlds8tm7vvy2b/T/icon-icon-mxzzj11k9-1767663824644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2" name="Image 14" descr="/var/folders/1y/yzhkrds14j1gm67qjvlds8tm7vvy2b/T/icon-icon-70n7bamfl-1767663824678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3" name="Image 15" descr="/var/folders/1y/yzhkrds14j1gm67qjvlds8tm7vvy2b/T/icon-icon-nofggs0rm-1767663824720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4" name="Image 16" descr="/var/folders/1y/yzhkrds14j1gm67qjvlds8tm7vvy2b/T/icon-icon-nofggs0rm-1767663824753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5" name="Image 17" descr="/var/folders/1y/yzhkrds14j1gm67qjvlds8tm7vvy2b/T/icon-icon-583j3fyw9-1767663824786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05800" y="2000250"/>
            <a:ext cx="357188" cy="285750"/>
          </a:xfrm>
          <a:prstGeom prst="rect">
            <a:avLst/>
          </a:prstGeom>
        </p:spPr>
      </p:pic>
      <p:pic>
        <p:nvPicPr>
          <p:cNvPr id="46" name="Image 18" descr="/var/folders/1y/yzhkrds14j1gm67qjvlds8tm7vvy2b/T/icon-icon-suqflilbs-1767663824820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47" name="Image 19" descr="/var/folders/1y/yzhkrds14j1gm67qjvlds8tm7vvy2b/T/icon-icon-hhaekcu0s-1767663824853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48" name="Image 20" descr="/var/folders/1y/yzhkrds14j1gm67qjvlds8tm7vvy2b/T/icon-icon-7ywphn3pg-1767663824886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49" name="Image 21" descr="/var/folders/1y/yzhkrds14j1gm67qjvlds8tm7vvy2b/T/icon-icon-suqflilbs-1767663824919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50" name="Image 22" descr="/var/folders/1y/yzhkrds14j1gm67qjvlds8tm7vvy2b/T/icon-icon-hhaekcu0s-1767663824953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51" name="Image 23" descr="/var/folders/1y/yzhkrds14j1gm67qjvlds8tm7vvy2b/T/icon-icon-7ywphn3pg-176766382498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52" name="Image 24" descr="/var/folders/1y/yzhkrds14j1gm67qjvlds8tm7vvy2b/T/icon-icon-g9khdw8rh-1767663825019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  <p:pic>
        <p:nvPicPr>
          <p:cNvPr id="53" name="Image 25" descr="/var/folders/1y/yzhkrds14j1gm67qjvlds8tm7vvy2b/T/icon-icon-g9khdw8rh-1767663825053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07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952500"/>
            <a:ext cx="450354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2354" y="609600"/>
            <a:ext cx="1057744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Power of Partnership: Our B2B &amp; Corporate Ecosystem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600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Dook Travels, we believe in building win-win partnerships that drive growth for both parties. Our integrated ecosystem provides comprehensive support for travel agents and tailored solutions for corporate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38200" y="25908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Empowering Our Agent Network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8200" y="3048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857250" y="3048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" y="3200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57350" y="3200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Innovative B2B Portal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57350" y="3467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Instantly book flights, hotels, meals, and tours with live inventory and dynamic pricing.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8200" y="42291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857250" y="42291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8700" y="43815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57350" y="43815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Support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57350" y="46482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dedicated account manager for training, support, and query resolution.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8200" y="54102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57250" y="54102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8700" y="55626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57350" y="55626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Best-in-Market Value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57350" y="58293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Unbeatable rates and commissions that help you grow your business.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2590800"/>
            <a:ext cx="49743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 Trusted Choice for Corporate Travel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33528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496050" y="33528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7500" y="35052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96150" y="35052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Tailored MICE Solutions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96150" y="37719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MICE solutions tailored to your company's objectives and budget.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77000" y="45339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496050" y="45339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7500" y="46863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296150" y="46863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Large-Scale Events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96150" y="49530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Expertise in handling incentive tours, conferences, and company offsites with precision and creativity.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77000" y="5715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496050" y="5715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7500" y="5867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296150" y="5867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Seamless Global Coordination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296150" y="6134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point of contact for seamless global coordination of all your travel needs.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9872" y="72009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We Succeed When Our Partners Succeed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1669018" y="7620000"/>
            <a:ext cx="300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8/12</a:t>
            </a:r>
            <a:endParaRPr lang="en-US" sz="1200" dirty="0"/>
          </a:p>
        </p:txBody>
      </p:sp>
      <p:pic>
        <p:nvPicPr>
          <p:cNvPr id="42" name="Image 0" descr="/var/folders/1y/yzhkrds14j1gm67qjvlds8tm7vvy2b/T/icon-icon-514vbmtjc-17676638269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3" name="Image 1" descr="/var/folders/1y/yzhkrds14j1gm67qjvlds8tm7vvy2b/T/icon-icon-514vbmtjc-176766382697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4" name="Image 2" descr="/var/folders/1y/yzhkrds14j1gm67qjvlds8tm7vvy2b/T/icon-icon-7tdspu2jk-17676638270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575" y="3305175"/>
            <a:ext cx="190500" cy="266700"/>
          </a:xfrm>
          <a:prstGeom prst="rect">
            <a:avLst/>
          </a:prstGeom>
        </p:spPr>
      </p:pic>
      <p:pic>
        <p:nvPicPr>
          <p:cNvPr id="45" name="Image 3" descr="/var/folders/1y/yzhkrds14j1gm67qjvlds8tm7vvy2b/T/icon-icon-qmanat388-176766382703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75" y="4486275"/>
            <a:ext cx="190500" cy="266700"/>
          </a:xfrm>
          <a:prstGeom prst="rect">
            <a:avLst/>
          </a:prstGeom>
        </p:spPr>
      </p:pic>
      <p:pic>
        <p:nvPicPr>
          <p:cNvPr id="46" name="Image 4" descr="/var/folders/1y/yzhkrds14j1gm67qjvlds8tm7vvy2b/T/icon-icon-cfwcgxtpb-176766382706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575" y="5667375"/>
            <a:ext cx="190500" cy="266700"/>
          </a:xfrm>
          <a:prstGeom prst="rect">
            <a:avLst/>
          </a:prstGeom>
        </p:spPr>
      </p:pic>
      <p:pic>
        <p:nvPicPr>
          <p:cNvPr id="47" name="Image 5" descr="/var/folders/1y/yzhkrds14j1gm67qjvlds8tm7vvy2b/T/icon-icon-xme29qat5-176766382710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8" name="Image 6" descr="/var/folders/1y/yzhkrds14j1gm67qjvlds8tm7vvy2b/T/icon-icon-xme29qat5-1767663827135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9" name="Image 7" descr="/var/folders/1y/yzhkrds14j1gm67qjvlds8tm7vvy2b/T/icon-icon-ayjei5ux9-176766382717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563" y="3609975"/>
            <a:ext cx="238125" cy="266700"/>
          </a:xfrm>
          <a:prstGeom prst="rect">
            <a:avLst/>
          </a:prstGeom>
        </p:spPr>
      </p:pic>
      <p:pic>
        <p:nvPicPr>
          <p:cNvPr id="50" name="Image 8" descr="/var/folders/1y/yzhkrds14j1gm67qjvlds8tm7vvy2b/T/icon-icon-ygcd43pdc-176766382720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2281" y="4791075"/>
            <a:ext cx="166688" cy="266700"/>
          </a:xfrm>
          <a:prstGeom prst="rect">
            <a:avLst/>
          </a:prstGeom>
        </p:spPr>
      </p:pic>
      <p:pic>
        <p:nvPicPr>
          <p:cNvPr id="51" name="Image 9" descr="/var/folders/1y/yzhkrds14j1gm67qjvlds8tm7vvy2b/T/icon-icon-ttapr65ke-1767663827244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6563" y="5972175"/>
            <a:ext cx="238125" cy="266700"/>
          </a:xfrm>
          <a:prstGeom prst="rect">
            <a:avLst/>
          </a:prstGeom>
        </p:spPr>
      </p:pic>
      <p:pic>
        <p:nvPicPr>
          <p:cNvPr id="52" name="Image 10" descr="/var/folders/1y/yzhkrds14j1gm67qjvlds8tm7vvy2b/T/icon-icon-dth5ttm9f-1767663827277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3" name="Image 11" descr="/var/folders/1y/yzhkrds14j1gm67qjvlds8tm7vvy2b/T/icon-icon-ydy4e8tjm-176766382731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  <p:pic>
        <p:nvPicPr>
          <p:cNvPr id="54" name="Image 12" descr="/var/folders/1y/yzhkrds14j1gm67qjvlds8tm7vvy2b/T/icon-icon-dth5ttm9f-1767663827352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5" name="Image 13" descr="/var/folders/1y/yzhkrds14j1gm67qjvlds8tm7vvy2b/T/icon-icon-ydy4e8tjm-176766382738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9246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814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Difference: A Clear Comparison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settle for a follower? Partner with the undisputed market leader. Dook Travels stands apart with unique advantages that others simply cannot match.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981200"/>
            <a:ext cx="10972800" cy="3267075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30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306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882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Other DMCs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30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Own Indian Restaurants in CIS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306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882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/ Rarely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30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Pioneer in Indian Market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306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Since 2010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882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Follower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30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Comprehensive B2B Tech Platform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306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882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/ None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30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Specialized Indian Market Focus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306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Core DNA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8882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General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30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On-Ground Offices in 9+ Countries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306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882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Presence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30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Proven MICE &amp; Corporate Expertise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306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882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Variable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600" y="5476875"/>
            <a:ext cx="10972800" cy="838200"/>
          </a:xfrm>
          <a:prstGeom prst="roundRect">
            <a:avLst>
              <a:gd name="adj" fmla="val 909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28650" y="5476875"/>
            <a:ext cx="0" cy="8382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0100" y="5629275"/>
            <a:ext cx="1084249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choice is clear: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When you partner with Dook Travels, you gain advantages that simply aren't available elsewhere in the market.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1676459" y="6467475"/>
            <a:ext cx="292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9/12</a:t>
            </a:r>
            <a:endParaRPr lang="en-US" sz="1200" dirty="0"/>
          </a:p>
        </p:txBody>
      </p:sp>
      <p:pic>
        <p:nvPicPr>
          <p:cNvPr id="32" name="Image 0" descr="/var/folders/1y/yzhkrds14j1gm67qjvlds8tm7vvy2b/T/icon-icon-mpbj25ij5-176766382926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3" name="Image 1" descr="/var/folders/1y/yzhkrds14j1gm67qjvlds8tm7vvy2b/T/icon-icon-mpbj25ij5-176766382930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4" name="Image 2" descr="/var/folders/1y/yzhkrds14j1gm67qjvlds8tm7vvy2b/T/icon-icon-8dwoeyhew-176766382934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5" name="Image 3" descr="/var/folders/1y/yzhkrds14j1gm67qjvlds8tm7vvy2b/T/icon-icon-8dwoeyhew-176766382937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6" name="Image 4" descr="/var/folders/1y/yzhkrds14j1gm67qjvlds8tm7vvy2b/T/icon-icon-b3z784u3j-17676638294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7" name="Image 5" descr="/var/folders/1y/yzhkrds14j1gm67qjvlds8tm7vvy2b/T/icon-icon-b3z784u3j-176766382944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8" name="Image 6" descr="/var/folders/1y/yzhkrds14j1gm67qjvlds8tm7vvy2b/T/icon-icon-5gm098rc2-176766382947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39" name="Image 7" descr="/var/folders/1y/yzhkrds14j1gm67qjvlds8tm7vvy2b/T/icon-icon-5gm098rc2-176766382951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40" name="Image 8" descr="/var/folders/1y/yzhkrds14j1gm67qjvlds8tm7vvy2b/T/icon-icon-ixn860onw-176766382954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1" name="Image 9" descr="/var/folders/1y/yzhkrds14j1gm67qjvlds8tm7vvy2b/T/icon-icon-ixn860onw-176766382957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2" name="Image 10" descr="/var/folders/1y/yzhkrds14j1gm67qjvlds8tm7vvy2b/T/icon-icon-qu1jikyqu-176766382962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3" name="Image 11" descr="/var/folders/1y/yzhkrds14j1gm67qjvlds8tm7vvy2b/T/icon-icon-qu1jikyqu-176766382965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4" name="Image 12" descr="/var/folders/1y/yzhkrds14j1gm67qjvlds8tm7vvy2b/T/icon-icon-o95vn5o2e-176766382968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5" name="Image 13" descr="/var/folders/1y/yzhkrds14j1gm67qjvlds8tm7vvy2b/T/icon-icon-o95vn5o2e-176766382971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6" name="Image 14" descr="/var/folders/1y/yzhkrds14j1gm67qjvlds8tm7vvy2b/T/icon-icon-6ythgfxu6-1767663829753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7" name="Image 15" descr="/var/folders/1y/yzhkrds14j1gm67qjvlds8tm7vvy2b/T/icon-icon-6ythgfxu6-1767663829794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8" name="Image 16" descr="/var/folders/1y/yzhkrds14j1gm67qjvlds8tm7vvy2b/T/icon-icon-80hy8hc6k-1767663829828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49" name="Image 17" descr="/var/folders/1y/yzhkrds14j1gm67qjvlds8tm7vvy2b/T/icon-icon-80hy8hc6k-1767663829862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50" name="Image 18" descr="/var/folders/1y/yzhkrds14j1gm67qjvlds8tm7vvy2b/T/icon-icon-sb0g9pmps-1767663829894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1" name="Image 19" descr="/var/folders/1y/yzhkrds14j1gm67qjvlds8tm7vvy2b/T/icon-icon-sb0g9pmps-1767663829928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2" name="Image 20" descr="/var/folders/1y/yzhkrds14j1gm67qjvlds8tm7vvy2b/T/icon-icon-ybb7ozvlb-1767663829970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3" name="Image 21" descr="/var/folders/1y/yzhkrds14j1gm67qjvlds8tm7vvy2b/T/icon-icon-ybb7ozvlb-1767663830002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4" name="Image 22" descr="/var/folders/1y/yzhkrds14j1gm67qjvlds8tm7vvy2b/T/icon-icon-3ugfey8m2-1767663830037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5" name="Image 23" descr="/var/folders/1y/yzhkrds14j1gm67qjvlds8tm7vvy2b/T/icon-icon-3ugfey8m2-1767663830077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6" name="Image 24" descr="/var/folders/1y/yzhkrds14j1gm67qjvlds8tm7vvy2b/T/icon-icon-2wlr3ldob-1767663830112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7" name="Image 25" descr="/var/folders/1y/yzhkrds14j1gm67qjvlds8tm7vvy2b/T/icon-icon-2wlr3ldob-1767663830153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8" name="Image 26" descr="/var/folders/1y/yzhkrds14j1gm67qjvlds8tm7vvy2b/T/icon-icon-iaj1i1ol7-1767663830194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59" name="Image 27" descr="/var/folders/1y/yzhkrds14j1gm67qjvlds8tm7vvy2b/T/icon-icon-iaj1i1ol7-1767663830229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60" name="Image 28" descr="/var/folders/1y/yzhkrds14j1gm67qjvlds8tm7vvy2b/T/icon-icon-e1xuc6umm-1767663830270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1" name="Image 29" descr="/var/folders/1y/yzhkrds14j1gm67qjvlds8tm7vvy2b/T/icon-icon-e1xuc6umm-1767663830310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2" name="Image 30" descr="/var/folders/1y/yzhkrds14j1gm67qjvlds8tm7vvy2b/T/icon-icon-6y7swtr9c-1767663830344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3" name="Image 31" descr="/var/folders/1y/yzhkrds14j1gm67qjvlds8tm7vvy2b/T/icon-icon-6y7swtr9c-176766383038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4" name="Image 32" descr="/var/folders/1y/yzhkrds14j1gm67qjvlds8tm7vvy2b/T/icon-icon-zqhr8l2bj-1767663830420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5" name="Image 33" descr="/var/folders/1y/yzhkrds14j1gm67qjvlds8tm7vvy2b/T/icon-icon-zqhr8l2bj-1767663830453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6" name="Image 34" descr="/var/folders/1y/yzhkrds14j1gm67qjvlds8tm7vvy2b/T/icon-icon-hrdgj231b-1767663830486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7" name="Image 35" descr="/var/folders/1y/yzhkrds14j1gm67qjvlds8tm7vvy2b/T/icon-icon-hrdgj231b-1767663830528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8" name="Image 36" descr="/var/folders/1y/yzhkrds14j1gm67qjvlds8tm7vvy2b/T/icon-icon-s13tw7us8-1767663830570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69" name="Image 37" descr="/var/folders/1y/yzhkrds14j1gm67qjvlds8tm7vvy2b/T/icon-icon-s13tw7us8-1767663830611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70" name="Image 38" descr="/var/folders/1y/yzhkrds14j1gm67qjvlds8tm7vvy2b/T/icon-icon-d3q746fc9-1767663830644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  <p:pic>
        <p:nvPicPr>
          <p:cNvPr id="71" name="Image 39" descr="/var/folders/1y/yzhkrds14j1gm67qjvlds8tm7vvy2b/T/icon-icon-d3q746fc9-1767663830678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3288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Legacy of Trust &amp; Success in Numbers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365248" y="1295400"/>
            <a:ext cx="746150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numbers don't just tell a story—they prove our commitment to delivering exceptional travel experiences and building lasting partnerships.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1820" y="2971800"/>
            <a:ext cx="22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500,000+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97992" y="3505200"/>
            <a:ext cx="1234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4976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953494" y="2857500"/>
            <a:ext cx="184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06281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 Partners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9007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1701" y="2857500"/>
            <a:ext cx="1191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30312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Served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30380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72251" y="2857500"/>
            <a:ext cx="1150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250+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543435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Professionals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7069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189964" y="2857500"/>
            <a:ext cx="788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783747" y="3390900"/>
            <a:ext cx="158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Years of Market Leadership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4381500"/>
            <a:ext cx="8534400" cy="1295400"/>
          </a:xfrm>
          <a:prstGeom prst="roundRect">
            <a:avLst>
              <a:gd name="adj" fmla="val 5882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1828800" y="4400550"/>
            <a:ext cx="85344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76628" y="4648200"/>
            <a:ext cx="8238744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These numbers represent more than just statistics—they represent thousands of successful journeys, meaningful partnerships, and a legacy of trust built on years of expertise in the CIS region.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613356" y="6400800"/>
            <a:ext cx="35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10/12</a:t>
            </a:r>
            <a:endParaRPr lang="en-US" sz="1200" dirty="0"/>
          </a:p>
        </p:txBody>
      </p:sp>
      <p:pic>
        <p:nvPicPr>
          <p:cNvPr id="25" name="Image 0" descr="/var/folders/1y/yzhkrds14j1gm67qjvlds8tm7vvy2b/T/icon-icon-xikgeg9xt-176766383249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68" y="2495550"/>
            <a:ext cx="428625" cy="342900"/>
          </a:xfrm>
          <a:prstGeom prst="rect">
            <a:avLst/>
          </a:prstGeom>
        </p:spPr>
      </p:pic>
      <p:pic>
        <p:nvPicPr>
          <p:cNvPr id="26" name="Image 1" descr="/var/folders/1y/yzhkrds14j1gm67qjvlds8tm7vvy2b/T/icon-icon-o9yhi4fye-17676638325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229" y="2381250"/>
            <a:ext cx="428625" cy="342900"/>
          </a:xfrm>
          <a:prstGeom prst="rect">
            <a:avLst/>
          </a:prstGeom>
        </p:spPr>
      </p:pic>
      <p:pic>
        <p:nvPicPr>
          <p:cNvPr id="27" name="Image 2" descr="/var/folders/1y/yzhkrds14j1gm67qjvlds8tm7vvy2b/T/icon-icon-8yr59yhtc-17676638325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264" y="2381250"/>
            <a:ext cx="257175" cy="342900"/>
          </a:xfrm>
          <a:prstGeom prst="rect">
            <a:avLst/>
          </a:prstGeom>
        </p:spPr>
      </p:pic>
      <p:pic>
        <p:nvPicPr>
          <p:cNvPr id="28" name="Image 3" descr="/var/folders/1y/yzhkrds14j1gm67qjvlds8tm7vvy2b/T/icon-icon-fb84jibaw-17676638326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142" y="2381250"/>
            <a:ext cx="300038" cy="342900"/>
          </a:xfrm>
          <a:prstGeom prst="rect">
            <a:avLst/>
          </a:prstGeom>
        </p:spPr>
      </p:pic>
      <p:pic>
        <p:nvPicPr>
          <p:cNvPr id="29" name="Image 4" descr="/var/folders/1y/yzhkrds14j1gm67qjvlds8tm7vvy2b/T/icon-icon-vkupwsvwu-176766383263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6452" y="2381250"/>
            <a:ext cx="300038" cy="342900"/>
          </a:xfrm>
          <a:prstGeom prst="rect">
            <a:avLst/>
          </a:prstGeom>
        </p:spPr>
      </p:pic>
      <p:pic>
        <p:nvPicPr>
          <p:cNvPr id="30" name="Image 5" descr="/var/folders/1y/yzhkrds14j1gm67qjvlds8tm7vvy2b/T/icon-icon-r4q2d57di-176766383266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1" name="Image 6" descr="/var/folders/1y/yzhkrds14j1gm67qjvlds8tm7vvy2b/T/icon-icon-4t7rlgly3-176766383270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  <p:pic>
        <p:nvPicPr>
          <p:cNvPr id="32" name="Image 7" descr="/var/folders/1y/yzhkrds14j1gm67qjvlds8tm7vvy2b/T/icon-icon-r4q2d57di-176766383273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3" name="Image 8" descr="/var/folders/1y/yzhkrds14j1gm67qjvlds8tm7vvy2b/T/icon-icon-4t7rlgly3-176766383276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1723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45125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Partner for Success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Succeed When Our Partners Succeed. Join forces with Dook Travels for mutual growth and unforgettable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55750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822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8229" y="4086225"/>
            <a:ext cx="30570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to unlock the most comprehensive CIS &amp; Turkey product portfolio and drive your business growth.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68701" y="2371725"/>
            <a:ext cx="3454450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368701" y="2390775"/>
            <a:ext cx="345445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485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67328" y="3629025"/>
            <a:ext cx="3057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67328" y="4086225"/>
            <a:ext cx="30571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Challenge us to design your next unforgettable incentive trip, conference, or company offsite.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795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12795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410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32657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26579" y="4086225"/>
            <a:ext cx="30570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 your next adventure with the confidence that you are traveling with the region's most trusted experts.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9872" y="633412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partners@dooktravels.com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|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www.dooktravels.com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656219" y="6715125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11/12</a:t>
            </a:r>
            <a:endParaRPr lang="en-US" sz="1200" dirty="0"/>
          </a:p>
        </p:txBody>
      </p:sp>
      <p:pic>
        <p:nvPicPr>
          <p:cNvPr id="23" name="Image 0" descr="/var/folders/1y/yzhkrds14j1gm67qjvlds8tm7vvy2b/T/icon-icon-iwezqpf9l-176766383465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2438" y="2847975"/>
            <a:ext cx="428625" cy="342900"/>
          </a:xfrm>
          <a:prstGeom prst="rect">
            <a:avLst/>
          </a:prstGeom>
        </p:spPr>
      </p:pic>
      <p:pic>
        <p:nvPicPr>
          <p:cNvPr id="24" name="Image 1" descr="/var/folders/1y/yzhkrds14j1gm67qjvlds8tm7vvy2b/T/icon-icon-gg1saqrln-17676638347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264" y="2847975"/>
            <a:ext cx="257175" cy="342900"/>
          </a:xfrm>
          <a:prstGeom prst="rect">
            <a:avLst/>
          </a:prstGeom>
        </p:spPr>
      </p:pic>
      <p:pic>
        <p:nvPicPr>
          <p:cNvPr id="25" name="Image 2" descr="/var/folders/1y/yzhkrds14j1gm67qjvlds8tm7vvy2b/T/icon-icon-1s5f63i6b-176766383473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788" y="2847975"/>
            <a:ext cx="428625" cy="342900"/>
          </a:xfrm>
          <a:prstGeom prst="rect">
            <a:avLst/>
          </a:prstGeom>
        </p:spPr>
      </p:pic>
      <p:pic>
        <p:nvPicPr>
          <p:cNvPr id="26" name="Image 3" descr="/var/folders/1y/yzhkrds14j1gm67qjvlds8tm7vvy2b/T/icon-icon-l12lmb8rk-176766383476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7" name="Image 4" descr="/var/folders/1y/yzhkrds14j1gm67qjvlds8tm7vvy2b/T/icon-icon-r9opmmakd-176766383480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  <p:pic>
        <p:nvPicPr>
          <p:cNvPr id="28" name="Image 5" descr="/var/folders/1y/yzhkrds14j1gm67qjvlds8tm7vvy2b/T/icon-icon-l12lmb8rk-1767663834834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9" name="Image 6" descr="/var/folders/1y/yzhkrds14j1gm67qjvlds8tm7vvy2b/T/icon-icon-r9opmmakd-176766383486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429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343792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 &amp; Connect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 for your interest in Dook Travels. We look forward to connecting with you and discussing how we can work together to create exceptional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098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3888" y="22098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9675" y="2457450"/>
            <a:ext cx="8376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09675" y="28194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09600" y="3543300"/>
            <a:ext cx="5334000" cy="1371600"/>
          </a:xfrm>
          <a:prstGeom prst="roundRect">
            <a:avLst>
              <a:gd name="adj" fmla="val 55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3888" y="3543300"/>
            <a:ext cx="0" cy="13716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9675" y="3790950"/>
            <a:ext cx="8821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Us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9675" y="41529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Partnerships &amp; MICE: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partners@dooktravels.com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9675" y="44577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General Inquiries: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info@dooktravels.com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600" y="51435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3888" y="51435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9675" y="5391150"/>
            <a:ext cx="662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09675" y="57531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[Your Primary Contact Number]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400" y="2209800"/>
            <a:ext cx="53340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7000" y="2438400"/>
            <a:ext cx="4974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Follow Our Journey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69548" y="3314700"/>
            <a:ext cx="7600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Facebook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42950" y="3314700"/>
            <a:ext cx="7989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4152900"/>
            <a:ext cx="5334000" cy="2286000"/>
          </a:xfrm>
          <a:prstGeom prst="roundRect">
            <a:avLst>
              <a:gd name="adj" fmla="val 3333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43815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Ready to Partner with the Best?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4800600"/>
            <a:ext cx="4974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or request a quote for your next business travel program.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770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Unparalleled expertise in CIS &amp; Turkey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9154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First-mover advantage since 2010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70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9154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623179" y="6972300"/>
            <a:ext cx="347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12/12</a:t>
            </a:r>
            <a:endParaRPr lang="en-US" sz="1200" dirty="0"/>
          </a:p>
        </p:txBody>
      </p:sp>
      <p:pic>
        <p:nvPicPr>
          <p:cNvPr id="31" name="Image 0" descr="/var/folders/1y/yzhkrds14j1gm67qjvlds8tm7vvy2b/T/icon-icon-2vqfal8g9-17676638368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2438400"/>
            <a:ext cx="228600" cy="304800"/>
          </a:xfrm>
          <a:prstGeom prst="rect">
            <a:avLst/>
          </a:prstGeom>
        </p:spPr>
      </p:pic>
      <p:pic>
        <p:nvPicPr>
          <p:cNvPr id="32" name="Image 1" descr="/var/folders/1y/yzhkrds14j1gm67qjvlds8tm7vvy2b/T/icon-icon-uymcpbyp6-176766383687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3771900"/>
            <a:ext cx="228600" cy="304800"/>
          </a:xfrm>
          <a:prstGeom prst="rect">
            <a:avLst/>
          </a:prstGeom>
        </p:spPr>
      </p:pic>
      <p:pic>
        <p:nvPicPr>
          <p:cNvPr id="33" name="Image 2" descr="/var/folders/1y/yzhkrds14j1gm67qjvlds8tm7vvy2b/T/icon-icon-3biyafx9j-17676638369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4" name="Image 3" descr="/var/folders/1y/yzhkrds14j1gm67qjvlds8tm7vvy2b/T/icon-icon-3biyafx9j-176766383694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5" name="Image 4" descr="/var/folders/1y/yzhkrds14j1gm67qjvlds8tm7vvy2b/T/icon-icon-yk0w2own0-176766383697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6" name="Image 5" descr="/var/folders/1y/yzhkrds14j1gm67qjvlds8tm7vvy2b/T/icon-icon-yk0w2own0-176766383701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7" name="Image 6" descr="/var/folders/1y/yzhkrds14j1gm67qjvlds8tm7vvy2b/T/icon-icon-8wyrxrm4d-176766383704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5372100"/>
            <a:ext cx="228600" cy="304800"/>
          </a:xfrm>
          <a:prstGeom prst="rect">
            <a:avLst/>
          </a:prstGeom>
        </p:spPr>
      </p:pic>
      <p:pic>
        <p:nvPicPr>
          <p:cNvPr id="38" name="Image 7" descr="/var/folders/1y/yzhkrds14j1gm67qjvlds8tm7vvy2b/T/icon-icon-uyi7itgrm-1767663837076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2361" y="2876550"/>
            <a:ext cx="214313" cy="342900"/>
          </a:xfrm>
          <a:prstGeom prst="rect">
            <a:avLst/>
          </a:prstGeom>
        </p:spPr>
      </p:pic>
      <p:pic>
        <p:nvPicPr>
          <p:cNvPr id="39" name="Image 8" descr="/var/folders/1y/yzhkrds14j1gm67qjvlds8tm7vvy2b/T/icon-icon-jv42dxcuv-176766383710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2330" y="2876550"/>
            <a:ext cx="300038" cy="342900"/>
          </a:xfrm>
          <a:prstGeom prst="rect">
            <a:avLst/>
          </a:prstGeom>
        </p:spPr>
      </p:pic>
      <p:pic>
        <p:nvPicPr>
          <p:cNvPr id="40" name="Image 9" descr="/var/folders/1y/yzhkrds14j1gm67qjvlds8tm7vvy2b/T/icon-icon-b2gm2f8cz-176766383714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1" name="Image 10" descr="/var/folders/1y/yzhkrds14j1gm67qjvlds8tm7vvy2b/T/icon-icon-b2gm2f8cz-1767663837178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2" name="Image 11" descr="/var/folders/1y/yzhkrds14j1gm67qjvlds8tm7vvy2b/T/icon-icon-jjhzkywu2-176766383721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3" name="Image 12" descr="/var/folders/1y/yzhkrds14j1gm67qjvlds8tm7vvy2b/T/icon-icon-jjhzkywu2-1767663837245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4" name="Image 13" descr="/var/folders/1y/yzhkrds14j1gm67qjvlds8tm7vvy2b/T/icon-icon-mnxpygdnf-1767663837277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5" name="Image 14" descr="/var/folders/1y/yzhkrds14j1gm67qjvlds8tm7vvy2b/T/icon-icon-mnxpygdnf-1767663837311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6" name="Image 15" descr="/var/folders/1y/yzhkrds14j1gm67qjvlds8tm7vvy2b/T/icon-icon-xp76pzj3t-1767663837344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  <p:pic>
        <p:nvPicPr>
          <p:cNvPr id="47" name="Image 16" descr="/var/folders/1y/yzhkrds14j1gm67qjvlds8tm7vvy2b/T/icon-icon-xp76pzj3t-1767663837386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2026-01-06T01:43:57Z</dcterms:created>
  <dcterms:modified xsi:type="dcterms:W3CDTF">2026-01-06T01:43:57Z</dcterms:modified>
</cp:coreProperties>
</file>