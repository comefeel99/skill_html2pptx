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image" Target="../media/image-9-36.png"/><Relationship Id="rId37" Type="http://schemas.openxmlformats.org/officeDocument/2006/relationships/image" Target="../media/image-9-37.png"/><Relationship Id="rId38" Type="http://schemas.openxmlformats.org/officeDocument/2006/relationships/image" Target="../media/image-9-38.png"/><Relationship Id="rId39" Type="http://schemas.openxmlformats.org/officeDocument/2006/relationships/image" Target="../media/image-9-39.png"/><Relationship Id="rId40" Type="http://schemas.openxmlformats.org/officeDocument/2006/relationships/image" Target="../media/image-9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https://picture-search.skywork.ai/aippt/image/sheet/5b80969d4b5709ad5086c8844dadce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00250"/>
            <a:ext cx="9144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14400" y="2305050"/>
            <a:ext cx="31362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Dook Travels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3028950"/>
            <a:ext cx="71884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Premier DMC for CIS Countries &amp; Turkey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14400" y="3638550"/>
            <a:ext cx="58614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Pioneering Journeys. Unmatched Expertise. Shared Success.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4362450"/>
            <a:ext cx="2846636" cy="495300"/>
          </a:xfrm>
          <a:prstGeom prst="roundRect">
            <a:avLst>
              <a:gd name="adj" fmla="val 1538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43000" y="4476750"/>
            <a:ext cx="24372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&amp; Partner Presentation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6134100"/>
            <a:ext cx="8053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July 2025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145042" y="6172200"/>
            <a:ext cx="1708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www.dooktravels.com</a:t>
            </a:r>
            <a:endParaRPr lang="en-US" sz="1200" dirty="0"/>
          </a:p>
        </p:txBody>
      </p:sp>
      <p:pic>
        <p:nvPicPr>
          <p:cNvPr id="12" name="Image 1" descr="/var/folders/1y/yzhkrds14j1gm67qjvlds8tm7vvy2b/T/icon-bg-3nnssmar2-176766583883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 2" descr="/var/folders/1y/yzhkrds14j1gm67qjvlds8tm7vvy2b/T/icon-icon-dt5kfdqt5-17676658390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700" y="6200775"/>
            <a:ext cx="95250" cy="152400"/>
          </a:xfrm>
          <a:prstGeom prst="rect">
            <a:avLst/>
          </a:prstGeom>
        </p:spPr>
      </p:pic>
      <p:pic>
        <p:nvPicPr>
          <p:cNvPr id="14" name="Image 3" descr="/var/folders/1y/yzhkrds14j1gm67qjvlds8tm7vvy2b/T/icon-icon-a7uyy6yyj-17676658390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250" y="6200775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68527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About Dook Travels: The CIS Pioneers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11192256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didn't just enter the market—we created it. Since 2010, Dook Travels has been the trailblazer introducing CIS destinations like Uzbekistan and Russia to the Indian &amp; South Asian market. Our journey has been defined by innovation, trust, and a commitment to providing unparalleled travel experiences.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528888"/>
            <a:ext cx="3505200" cy="1638300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528888"/>
            <a:ext cx="0" cy="16383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7788" y="2776538"/>
            <a:ext cx="9439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Lakh+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6300" y="3252788"/>
            <a:ext cx="3070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Happy travelers have explored with us, experiencing the magic of the CIS region.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2528888"/>
            <a:ext cx="3505200" cy="1638300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362450" y="2528888"/>
            <a:ext cx="0" cy="16383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1588" y="2776538"/>
            <a:ext cx="920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10,000+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0100" y="3252788"/>
            <a:ext cx="3070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Travel agents trust Dook Travels to deliver exceptional value and service.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77200" y="2528888"/>
            <a:ext cx="3505200" cy="1638300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96250" y="2528888"/>
            <a:ext cx="0" cy="16383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72513" y="2776538"/>
            <a:ext cx="5959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43900" y="3252788"/>
            <a:ext cx="3070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Corporate clients rely on us for their incentive tours and business travel needs.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4471988"/>
            <a:ext cx="10972800" cy="1533525"/>
          </a:xfrm>
          <a:prstGeom prst="roundRect">
            <a:avLst>
              <a:gd name="adj" fmla="val 496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9600" y="4491038"/>
            <a:ext cx="109728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200" y="4738688"/>
            <a:ext cx="107259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8200" y="5157788"/>
            <a:ext cx="1072591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provide unparalleled value, seamless execution, and authentic travel experiences across our specialized destinations.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678096" y="6400800"/>
            <a:ext cx="291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2/12</a:t>
            </a:r>
            <a:endParaRPr lang="en-US" sz="1200" dirty="0"/>
          </a:p>
        </p:txBody>
      </p:sp>
      <p:pic>
        <p:nvPicPr>
          <p:cNvPr id="23" name="Image 0" descr="/var/folders/1y/yzhkrds14j1gm67qjvlds8tm7vvy2b/T/icon-icon-jqkxcsjdu-17676658408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776538"/>
            <a:ext cx="357188" cy="285750"/>
          </a:xfrm>
          <a:prstGeom prst="rect">
            <a:avLst/>
          </a:prstGeom>
        </p:spPr>
      </p:pic>
      <p:pic>
        <p:nvPicPr>
          <p:cNvPr id="24" name="Image 1" descr="/var/folders/1y/yzhkrds14j1gm67qjvlds8tm7vvy2b/T/icon-icon-8mln02yox-17676658409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2776538"/>
            <a:ext cx="357188" cy="285750"/>
          </a:xfrm>
          <a:prstGeom prst="rect">
            <a:avLst/>
          </a:prstGeom>
        </p:spPr>
      </p:pic>
      <p:pic>
        <p:nvPicPr>
          <p:cNvPr id="25" name="Image 2" descr="/var/folders/1y/yzhkrds14j1gm67qjvlds8tm7vvy2b/T/icon-icon-x5p9xt80d-176766584095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2776538"/>
            <a:ext cx="214313" cy="285750"/>
          </a:xfrm>
          <a:prstGeom prst="rect">
            <a:avLst/>
          </a:prstGeom>
        </p:spPr>
      </p:pic>
      <p:pic>
        <p:nvPicPr>
          <p:cNvPr id="26" name="Image 3" descr="/var/folders/1y/yzhkrds14j1gm67qjvlds8tm7vvy2b/T/icon-icon-28lgkv3ju-176766584098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67263"/>
            <a:ext cx="228600" cy="228600"/>
          </a:xfrm>
          <a:prstGeom prst="rect">
            <a:avLst/>
          </a:prstGeom>
        </p:spPr>
      </p:pic>
      <p:pic>
        <p:nvPicPr>
          <p:cNvPr id="27" name="Image 4" descr="/var/folders/1y/yzhkrds14j1gm67qjvlds8tm7vvy2b/T/icon-icon-28lgkv3ju-176766584102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767263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66144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Journey of Innovation &amp; Growth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11192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humble beginnings to becoming the undisputed leader in CIS &amp; Turkey tourism, Dook Travels has evolved through decades of innovation, expansion, and technological advancement.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971800"/>
            <a:ext cx="10972800" cy="381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05000" y="259080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6394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e63946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2971800"/>
            <a:ext cx="2438400" cy="2438400"/>
          </a:xfrm>
          <a:prstGeom prst="roundRect">
            <a:avLst>
              <a:gd name="adj" fmla="val 312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62000" y="2986088"/>
            <a:ext cx="24384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788" y="37623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2010-2011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0788" y="41052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Beginning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0788" y="4524375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Pioneered group tours to Uzbekistan &amp; Russia, opening a new frontier for Indian travelers.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8200" y="259080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6394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e63946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05200" y="2971800"/>
            <a:ext cx="2438400" cy="2438400"/>
          </a:xfrm>
          <a:prstGeom prst="roundRect">
            <a:avLst>
              <a:gd name="adj" fmla="val 312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05200" y="2986088"/>
            <a:ext cx="24384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3988" y="37623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2012-2016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13988" y="41052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Expansion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13988" y="4524375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Systematically expanded our footprint across the CIS, adding Kazakhstan, Georgia, Armenia, and Azerbaijan.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91400" y="259080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6394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e63946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8400" y="2971800"/>
            <a:ext cx="2438400" cy="2438400"/>
          </a:xfrm>
          <a:prstGeom prst="roundRect">
            <a:avLst>
              <a:gd name="adj" fmla="val 312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48400" y="2986088"/>
            <a:ext cx="24384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57188" y="37623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2017-2020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57188" y="41052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 Diversification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57188" y="4524375"/>
            <a:ext cx="20208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Strengthened our MICE &amp; Corporate travel division, becoming the go-to expert for large-scale incentive tours.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34600" y="259080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E63946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101600" dist="50800" dir="16200000">
              <a:srgbClr val="e63946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91600" y="2971800"/>
            <a:ext cx="2438400" cy="2438400"/>
          </a:xfrm>
          <a:prstGeom prst="roundRect">
            <a:avLst>
              <a:gd name="adj" fmla="val 3125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991600" y="2986088"/>
            <a:ext cx="24384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0388" y="37623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2023 &amp; Beyond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00388" y="4105275"/>
            <a:ext cx="20208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&amp; New Horizons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200388" y="4524375"/>
            <a:ext cx="20208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Launched our state-of-the-art B2B booking portal and expanded our portfolio to include Turkey and key Eastern European destinations.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80180" y="6400800"/>
            <a:ext cx="288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3/12</a:t>
            </a:r>
            <a:endParaRPr lang="en-US" sz="1200" dirty="0"/>
          </a:p>
        </p:txBody>
      </p:sp>
      <p:pic>
        <p:nvPicPr>
          <p:cNvPr id="32" name="Image 0" descr="/var/folders/1y/yzhkrds14j1gm67qjvlds8tm7vvy2b/T/icon-icon-4d01tyhts-17676658428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50" y="3248025"/>
            <a:ext cx="342900" cy="342900"/>
          </a:xfrm>
          <a:prstGeom prst="rect">
            <a:avLst/>
          </a:prstGeom>
        </p:spPr>
      </p:pic>
      <p:pic>
        <p:nvPicPr>
          <p:cNvPr id="33" name="Image 1" descr="/var/folders/1y/yzhkrds14j1gm67qjvlds8tm7vvy2b/T/icon-icon-q1ig50pii-17676658429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950" y="3248025"/>
            <a:ext cx="342900" cy="342900"/>
          </a:xfrm>
          <a:prstGeom prst="rect">
            <a:avLst/>
          </a:prstGeom>
        </p:spPr>
      </p:pic>
      <p:pic>
        <p:nvPicPr>
          <p:cNvPr id="34" name="Image 2" descr="/var/folders/1y/yzhkrds14j1gm67qjvlds8tm7vvy2b/T/icon-icon-p0ndiu7fz-17676658429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719" y="3248025"/>
            <a:ext cx="385763" cy="342900"/>
          </a:xfrm>
          <a:prstGeom prst="rect">
            <a:avLst/>
          </a:prstGeom>
        </p:spPr>
      </p:pic>
      <p:pic>
        <p:nvPicPr>
          <p:cNvPr id="35" name="Image 3" descr="/var/folders/1y/yzhkrds14j1gm67qjvlds8tm7vvy2b/T/icon-icon-6jt3imq8h-17676658430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9350" y="324802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6584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Dook Advantage: Why We Lead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1119225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Dook Travels establishes its market leadership through four key pillars that deliver superior value and exceptional service to our partners and clients.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219325"/>
            <a:ext cx="5334000" cy="1476375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2233613"/>
            <a:ext cx="53340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476500"/>
            <a:ext cx="590550" cy="647700"/>
          </a:xfrm>
          <a:prstGeom prst="roundRect">
            <a:avLst>
              <a:gd name="adj" fmla="val 161274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81150" y="2476500"/>
            <a:ext cx="42165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Pioneering Expertise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81150" y="2857500"/>
            <a:ext cx="4216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14+ years of specialized, on-the-ground experience in a region others are just discovering.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2219325"/>
            <a:ext cx="5334000" cy="1476375"/>
          </a:xfrm>
          <a:prstGeom prst="roundRect">
            <a:avLst>
              <a:gd name="adj" fmla="val 5161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48400" y="2233613"/>
            <a:ext cx="53340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476500"/>
            <a:ext cx="519113" cy="647700"/>
          </a:xfrm>
          <a:prstGeom prst="roundRect">
            <a:avLst>
              <a:gd name="adj" fmla="val 18346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148513" y="2476500"/>
            <a:ext cx="42893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On-Ground Infrastructure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48513" y="2857500"/>
            <a:ext cx="42893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Fully-owned offices, transport fleets, and even our own Indian restaurants in key destinations.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4000500"/>
            <a:ext cx="5334000" cy="1704975"/>
          </a:xfrm>
          <a:prstGeom prst="roundRect">
            <a:avLst>
              <a:gd name="adj" fmla="val 4469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600" y="4014788"/>
            <a:ext cx="53340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200" y="4257675"/>
            <a:ext cx="519113" cy="647700"/>
          </a:xfrm>
          <a:prstGeom prst="roundRect">
            <a:avLst>
              <a:gd name="adj" fmla="val 183467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09713" y="4257675"/>
            <a:ext cx="42893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Indian-Centric Solutions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9713" y="4638675"/>
            <a:ext cx="428939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understanding of the needs of the Indian traveler—from cuisine to comfort—and deliver solutions no one else can.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48400" y="4000500"/>
            <a:ext cx="5334000" cy="1704975"/>
          </a:xfrm>
          <a:prstGeom prst="roundRect">
            <a:avLst>
              <a:gd name="adj" fmla="val 4469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48400" y="4014788"/>
            <a:ext cx="5334000" cy="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7000" y="4257675"/>
            <a:ext cx="590550" cy="647700"/>
          </a:xfrm>
          <a:prstGeom prst="roundRect">
            <a:avLst>
              <a:gd name="adj" fmla="val 1612741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19950" y="4257675"/>
            <a:ext cx="42165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Service Ecosystem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19950" y="4638675"/>
            <a:ext cx="42165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single, reliable partner for everything: FIT, Group Tours, MICE, Visas, and more.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61279" y="6400800"/>
            <a:ext cx="30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4/12</a:t>
            </a:r>
            <a:endParaRPr lang="en-US" sz="1200" dirty="0"/>
          </a:p>
        </p:txBody>
      </p:sp>
      <p:pic>
        <p:nvPicPr>
          <p:cNvPr id="27" name="Image 0" descr="/var/folders/1y/yzhkrds14j1gm67qjvlds8tm7vvy2b/T/icon-icon-am9ae8ic6-17676658448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647950"/>
            <a:ext cx="285750" cy="285750"/>
          </a:xfrm>
          <a:prstGeom prst="rect">
            <a:avLst/>
          </a:prstGeom>
        </p:spPr>
      </p:pic>
      <p:pic>
        <p:nvPicPr>
          <p:cNvPr id="28" name="Image 1" descr="/var/folders/1y/yzhkrds14j1gm67qjvlds8tm7vvy2b/T/icon-icon-2y02palos-17676658448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647950"/>
            <a:ext cx="214313" cy="285750"/>
          </a:xfrm>
          <a:prstGeom prst="rect">
            <a:avLst/>
          </a:prstGeom>
        </p:spPr>
      </p:pic>
      <p:pic>
        <p:nvPicPr>
          <p:cNvPr id="29" name="Image 2" descr="/var/folders/1y/yzhkrds14j1gm67qjvlds8tm7vvy2b/T/icon-icon-jt7thtof5-17676658449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429125"/>
            <a:ext cx="214313" cy="285750"/>
          </a:xfrm>
          <a:prstGeom prst="rect">
            <a:avLst/>
          </a:prstGeom>
        </p:spPr>
      </p:pic>
      <p:pic>
        <p:nvPicPr>
          <p:cNvPr id="30" name="Image 3" descr="/var/folders/1y/yzhkrds14j1gm67qjvlds8tm7vvy2b/T/icon-icon-g6pu5pmct-176766584496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429125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1248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75351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Unmatched Expertise in the CIS &amp; Turkey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95400"/>
            <a:ext cx="1119225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Destination mastery is in our DNA. For over a decade, we've been pioneering journeys across the CIS and Turkey, developing specialized knowledge and innovative approaches that set us apart.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219325"/>
            <a:ext cx="5372100" cy="171450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219325"/>
            <a:ext cx="0" cy="17145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3950" y="2409825"/>
            <a:ext cx="23607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Innovation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828925"/>
            <a:ext cx="5052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constantly "invent" new travel circuits and experiences, moving beyond standard itineraries to offer authentic, memorable journeys that showcase the unique aspects of each destination.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4124325"/>
            <a:ext cx="5372100" cy="171450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8650" y="4124325"/>
            <a:ext cx="0" cy="17145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1100" y="4314825"/>
            <a:ext cx="226477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Logistical Prowess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" y="4733925"/>
            <a:ext cx="50520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specialize in complex, multi-country tours, ensuring a seamless and hassle-free experience for groups and FITs alike. Our expertise lies in coordinating elaborate itineraries across borders with precision.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6029325"/>
            <a:ext cx="5372100" cy="1485900"/>
          </a:xfrm>
          <a:prstGeom prst="roundRect">
            <a:avLst>
              <a:gd name="adj" fmla="val 5128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8650" y="6029325"/>
            <a:ext cx="0" cy="14859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9675" y="6219825"/>
            <a:ext cx="28135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Local Knowledge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" y="6638925"/>
            <a:ext cx="50520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teams possess intimate knowledge of the culture, logistics, and hidden gems of every destination we operate in. This allows us to provide authentic experiences that others miss.</a:t>
            </a:r>
            <a:endParaRPr lang="en-US" sz="1200" dirty="0"/>
          </a:p>
        </p:txBody>
      </p:sp>
      <p:pic>
        <p:nvPicPr>
          <p:cNvPr id="18" name="Image 0" descr="https://picture-search.skywork.ai/aippt/image/sheet/750562dc633564e178440be2947f77b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300" y="3581102"/>
            <a:ext cx="5372100" cy="22292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10300" y="5810399"/>
            <a:ext cx="5372100" cy="3429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234303" y="5886599"/>
            <a:ext cx="53240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Registan Square, Samarkand - One of our many mastered destinations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1680031" y="7667625"/>
            <a:ext cx="2890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5/12</a:t>
            </a:r>
            <a:endParaRPr lang="en-US" sz="1200" dirty="0"/>
          </a:p>
        </p:txBody>
      </p:sp>
      <p:pic>
        <p:nvPicPr>
          <p:cNvPr id="22" name="Image 1" descr="/var/folders/1y/yzhkrds14j1gm67qjvlds8tm7vvy2b/T/icon-icon-ieqyxmuqg-176766584684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38400"/>
            <a:ext cx="171450" cy="228600"/>
          </a:xfrm>
          <a:prstGeom prst="rect">
            <a:avLst/>
          </a:prstGeom>
        </p:spPr>
      </p:pic>
      <p:pic>
        <p:nvPicPr>
          <p:cNvPr id="23" name="Image 2" descr="/var/folders/1y/yzhkrds14j1gm67qjvlds8tm7vvy2b/T/icon-icon-guo2eddom-17676658468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43400"/>
            <a:ext cx="228600" cy="228600"/>
          </a:xfrm>
          <a:prstGeom prst="rect">
            <a:avLst/>
          </a:prstGeom>
        </p:spPr>
      </p:pic>
      <p:pic>
        <p:nvPicPr>
          <p:cNvPr id="24" name="Image 3" descr="/var/folders/1y/yzhkrds14j1gm67qjvlds8tm7vvy2b/T/icon-icon-bzrj1qb1f-17676658469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248400"/>
            <a:ext cx="2571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103735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On-Ground Infrastructure: Your Assurance of Quality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19200"/>
            <a:ext cx="1119225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We're not just present—we're invested. Dook Travels has established robust on-the-ground infrastructure to ensure seamless execution of every travel program in the CIS region.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143125"/>
            <a:ext cx="3505200" cy="28194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8650" y="2143125"/>
            <a:ext cx="0" cy="28194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6300" y="2371725"/>
            <a:ext cx="514350" cy="647700"/>
          </a:xfrm>
          <a:prstGeom prst="roundRect">
            <a:avLst>
              <a:gd name="adj" fmla="val 18516667"/>
            </a:avLst>
          </a:prstGeom>
          <a:solidFill>
            <a:srgbClr val="F8F9F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04950" y="2543175"/>
            <a:ext cx="22090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 Presence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6300" y="3171825"/>
            <a:ext cx="30700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Fully-staffed offices in 9+ countries across the CIS region, including: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300" y="4505325"/>
            <a:ext cx="30700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real-time, on-the-ground support.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2143125"/>
            <a:ext cx="3505200" cy="28194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62450" y="2143125"/>
            <a:ext cx="0" cy="28194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0100" y="2371725"/>
            <a:ext cx="542925" cy="647700"/>
          </a:xfrm>
          <a:prstGeom prst="roundRect">
            <a:avLst>
              <a:gd name="adj" fmla="val 17542105"/>
            </a:avLst>
          </a:prstGeom>
          <a:solidFill>
            <a:srgbClr val="F8F9F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67325" y="2543175"/>
            <a:ext cx="23059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 Restaurants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0100" y="3171825"/>
            <a:ext cx="30700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are one of the only DMCs to operate our 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 chain of Indian restaurants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key CIS locations, solving the number one concern for Indian travelers.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8700" y="4467225"/>
            <a:ext cx="22099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taste of home, guaranteed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77200" y="2143125"/>
            <a:ext cx="3505200" cy="28194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096250" y="2143125"/>
            <a:ext cx="0" cy="28194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3900" y="2371725"/>
            <a:ext cx="628650" cy="647700"/>
          </a:xfrm>
          <a:prstGeom prst="roundRect">
            <a:avLst>
              <a:gd name="adj" fmla="val 15150000"/>
            </a:avLst>
          </a:prstGeom>
          <a:solidFill>
            <a:srgbClr val="F8F9F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086850" y="2390775"/>
            <a:ext cx="231228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Relationships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43900" y="3171825"/>
            <a:ext cx="3070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Long-standing, exclusive relationships with the best hotels and transport providers, ensuring: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72500" y="4010025"/>
            <a:ext cx="1133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service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72500" y="4314825"/>
            <a:ext cx="263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Competitive rates for our partners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600" y="526732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09600" y="5286375"/>
            <a:ext cx="1097280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0150" y="5495925"/>
            <a:ext cx="103955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assurance of quality: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Dook Travels' robust infrastructure provides a level of support and service that other DMCs simply cannot match.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671846" y="6400800"/>
            <a:ext cx="2973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6/12</a:t>
            </a:r>
            <a:endParaRPr lang="en-US" sz="1200" dirty="0"/>
          </a:p>
        </p:txBody>
      </p:sp>
      <p:pic>
        <p:nvPicPr>
          <p:cNvPr id="29" name="Image 0" descr="/var/folders/1y/yzhkrds14j1gm67qjvlds8tm7vvy2b/T/icon-icon-1drn7exj0-17676658487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543175"/>
            <a:ext cx="171450" cy="304800"/>
          </a:xfrm>
          <a:prstGeom prst="rect">
            <a:avLst/>
          </a:prstGeom>
        </p:spPr>
      </p:pic>
      <p:pic>
        <p:nvPicPr>
          <p:cNvPr id="30" name="Image 1" descr="/var/folders/1y/yzhkrds14j1gm67qjvlds8tm7vvy2b/T/icon-icon-x8po9t2ru-17676658488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550" y="2543175"/>
            <a:ext cx="200025" cy="304800"/>
          </a:xfrm>
          <a:prstGeom prst="rect">
            <a:avLst/>
          </a:prstGeom>
        </p:spPr>
      </p:pic>
      <p:pic>
        <p:nvPicPr>
          <p:cNvPr id="31" name="Image 2" descr="/var/folders/1y/yzhkrds14j1gm67qjvlds8tm7vvy2b/T/icon-icon-rjaxuhs68-17676658488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4505325"/>
            <a:ext cx="152400" cy="152400"/>
          </a:xfrm>
          <a:prstGeom prst="rect">
            <a:avLst/>
          </a:prstGeom>
        </p:spPr>
      </p:pic>
      <p:pic>
        <p:nvPicPr>
          <p:cNvPr id="32" name="Image 3" descr="/var/folders/1y/yzhkrds14j1gm67qjvlds8tm7vvy2b/T/icon-icon-aufyss3w9-176766584887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350" y="2543175"/>
            <a:ext cx="285750" cy="304800"/>
          </a:xfrm>
          <a:prstGeom prst="rect">
            <a:avLst/>
          </a:prstGeom>
        </p:spPr>
      </p:pic>
      <p:pic>
        <p:nvPicPr>
          <p:cNvPr id="33" name="Image 4" descr="/var/folders/1y/yzhkrds14j1gm67qjvlds8tm7vvy2b/T/icon-icon-y8naoytdr-17676658489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0" y="4048125"/>
            <a:ext cx="152400" cy="152400"/>
          </a:xfrm>
          <a:prstGeom prst="rect">
            <a:avLst/>
          </a:prstGeom>
        </p:spPr>
      </p:pic>
      <p:pic>
        <p:nvPicPr>
          <p:cNvPr id="34" name="Image 5" descr="/var/folders/1y/yzhkrds14j1gm67qjvlds8tm7vvy2b/T/icon-icon-h4olkv2p8-176766584894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0" y="4352925"/>
            <a:ext cx="152400" cy="152400"/>
          </a:xfrm>
          <a:prstGeom prst="rect">
            <a:avLst/>
          </a:prstGeom>
        </p:spPr>
      </p:pic>
      <p:pic>
        <p:nvPicPr>
          <p:cNvPr id="35" name="Image 6" descr="/var/folders/1y/yzhkrds14j1gm67qjvlds8tm7vvy2b/T/icon-icon-uw1hd5n36-176766584898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5610225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86680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Solutions for Every Travel Need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19200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one-stop solution for all travel requirements, tailored to each segment's unique needs.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714500"/>
            <a:ext cx="3505200" cy="3657600"/>
          </a:xfrm>
          <a:prstGeom prst="roundRect">
            <a:avLst>
              <a:gd name="adj" fmla="val 2174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1733550"/>
            <a:ext cx="35052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9688" y="2000250"/>
            <a:ext cx="21327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Travel Agents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4765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 portfolio of fixed departures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Customizable FITs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 confirmations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543300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57250" y="3543300"/>
            <a:ext cx="0" cy="60960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" y="3657600"/>
            <a:ext cx="2836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Benefit: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Streamline operations with our powerful B2B booking portal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3400" y="1714500"/>
            <a:ext cx="3505200" cy="3657600"/>
          </a:xfrm>
          <a:prstGeom prst="roundRect">
            <a:avLst>
              <a:gd name="adj" fmla="val 2174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43400" y="1733550"/>
            <a:ext cx="35052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0613" y="2000250"/>
            <a:ext cx="17996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Corporates</a:t>
            </a:r>
            <a:endParaRPr lang="en-US" sz="1800" dirty="0"/>
          </a:p>
        </p:txBody>
      </p:sp>
      <p:pic>
        <p:nvPicPr>
          <p:cNvPr id="16" name="Image 0" descr="https://picture-search.skywork.ai/aippt/image/sheet/2d77e86ba1b72bd0ea07c14986ab2b6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476500"/>
            <a:ext cx="3048000" cy="1219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0" y="38100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expertise in incentive tours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Offsites and conferences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0" y="4533900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591050" y="4533900"/>
            <a:ext cx="0" cy="60960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24400" y="4648200"/>
            <a:ext cx="2836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Benefit: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Flawless execution for 500+ leading companies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77200" y="1714500"/>
            <a:ext cx="3505200" cy="3657600"/>
          </a:xfrm>
          <a:prstGeom prst="roundRect">
            <a:avLst>
              <a:gd name="adj" fmla="val 2174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8077200" y="1733550"/>
            <a:ext cx="35052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7288" y="2000250"/>
            <a:ext cx="15641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Travelers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305800" y="24765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All-inclusive holiday packages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Value-driven pricing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 Indian meals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305800" y="3543300"/>
            <a:ext cx="3048000" cy="6096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8324850" y="3543300"/>
            <a:ext cx="0" cy="609600"/>
          </a:xfrm>
          <a:prstGeom prst="line">
            <a:avLst/>
          </a:prstGeom>
          <a:noFill/>
          <a:ln w="38100">
            <a:solidFill>
              <a:srgbClr val="60A5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58200" y="3657600"/>
            <a:ext cx="2836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Benefit: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Worry-free travel with premium hotels and flights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683008" y="6400800"/>
            <a:ext cx="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7/12</a:t>
            </a:r>
            <a:endParaRPr lang="en-US" sz="1200" dirty="0"/>
          </a:p>
        </p:txBody>
      </p:sp>
      <p:pic>
        <p:nvPicPr>
          <p:cNvPr id="29" name="Image 1" descr="/var/folders/1y/yzhkrds14j1gm67qjvlds8tm7vvy2b/T/icon-icon-yryp0wui0-17676658508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0250"/>
            <a:ext cx="357188" cy="285750"/>
          </a:xfrm>
          <a:prstGeom prst="rect">
            <a:avLst/>
          </a:prstGeom>
        </p:spPr>
      </p:pic>
      <p:pic>
        <p:nvPicPr>
          <p:cNvPr id="30" name="Image 2" descr="/var/folders/1y/yzhkrds14j1gm67qjvlds8tm7vvy2b/T/icon-icon-ft32adcfe-17676658508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4600"/>
            <a:ext cx="152400" cy="152400"/>
          </a:xfrm>
          <a:prstGeom prst="rect">
            <a:avLst/>
          </a:prstGeom>
        </p:spPr>
      </p:pic>
      <p:pic>
        <p:nvPicPr>
          <p:cNvPr id="31" name="Image 3" descr="/var/folders/1y/yzhkrds14j1gm67qjvlds8tm7vvy2b/T/icon-icon-yuyub60vi-176766585091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57500"/>
            <a:ext cx="152400" cy="152400"/>
          </a:xfrm>
          <a:prstGeom prst="rect">
            <a:avLst/>
          </a:prstGeom>
        </p:spPr>
      </p:pic>
      <p:pic>
        <p:nvPicPr>
          <p:cNvPr id="32" name="Image 4" descr="/var/folders/1y/yzhkrds14j1gm67qjvlds8tm7vvy2b/T/icon-icon-rb1ulwo5a-176766585094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200400"/>
            <a:ext cx="152400" cy="152400"/>
          </a:xfrm>
          <a:prstGeom prst="rect">
            <a:avLst/>
          </a:prstGeom>
        </p:spPr>
      </p:pic>
      <p:pic>
        <p:nvPicPr>
          <p:cNvPr id="33" name="Image 5" descr="/var/folders/1y/yzhkrds14j1gm67qjvlds8tm7vvy2b/T/icon-icon-ft32adcfe-176766585098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514600"/>
            <a:ext cx="152400" cy="152400"/>
          </a:xfrm>
          <a:prstGeom prst="rect">
            <a:avLst/>
          </a:prstGeom>
        </p:spPr>
      </p:pic>
      <p:pic>
        <p:nvPicPr>
          <p:cNvPr id="34" name="Image 6" descr="/var/folders/1y/yzhkrds14j1gm67qjvlds8tm7vvy2b/T/icon-icon-yuyub60vi-176766585101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857500"/>
            <a:ext cx="152400" cy="152400"/>
          </a:xfrm>
          <a:prstGeom prst="rect">
            <a:avLst/>
          </a:prstGeom>
        </p:spPr>
      </p:pic>
      <p:pic>
        <p:nvPicPr>
          <p:cNvPr id="35" name="Image 7" descr="/var/folders/1y/yzhkrds14j1gm67qjvlds8tm7vvy2b/T/icon-icon-rb1ulwo5a-176766585104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200400"/>
            <a:ext cx="152400" cy="152400"/>
          </a:xfrm>
          <a:prstGeom prst="rect">
            <a:avLst/>
          </a:prstGeom>
        </p:spPr>
      </p:pic>
      <p:pic>
        <p:nvPicPr>
          <p:cNvPr id="36" name="Image 8" descr="/var/folders/1y/yzhkrds14j1gm67qjvlds8tm7vvy2b/T/icon-icon-kj1w0swdy-176766585108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3686175"/>
            <a:ext cx="100013" cy="133350"/>
          </a:xfrm>
          <a:prstGeom prst="rect">
            <a:avLst/>
          </a:prstGeom>
        </p:spPr>
      </p:pic>
      <p:pic>
        <p:nvPicPr>
          <p:cNvPr id="37" name="Image 9" descr="/var/folders/1y/yzhkrds14j1gm67qjvlds8tm7vvy2b/T/icon-icon-kj1w0swdy-176766585112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3686175"/>
            <a:ext cx="100013" cy="133350"/>
          </a:xfrm>
          <a:prstGeom prst="rect">
            <a:avLst/>
          </a:prstGeom>
        </p:spPr>
      </p:pic>
      <p:pic>
        <p:nvPicPr>
          <p:cNvPr id="38" name="Image 10" descr="/var/folders/1y/yzhkrds14j1gm67qjvlds8tm7vvy2b/T/icon-icon-r3a1pi120-176766585115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2000250"/>
            <a:ext cx="214313" cy="285750"/>
          </a:xfrm>
          <a:prstGeom prst="rect">
            <a:avLst/>
          </a:prstGeom>
        </p:spPr>
      </p:pic>
      <p:pic>
        <p:nvPicPr>
          <p:cNvPr id="39" name="Image 11" descr="/var/folders/1y/yzhkrds14j1gm67qjvlds8tm7vvy2b/T/icon-icon-3ozcn4b62-176766585118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3848100"/>
            <a:ext cx="152400" cy="152400"/>
          </a:xfrm>
          <a:prstGeom prst="rect">
            <a:avLst/>
          </a:prstGeom>
        </p:spPr>
      </p:pic>
      <p:pic>
        <p:nvPicPr>
          <p:cNvPr id="40" name="Image 12" descr="/var/folders/1y/yzhkrds14j1gm67qjvlds8tm7vvy2b/T/icon-icon-67iyq7tmj-176766585122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4191000"/>
            <a:ext cx="152400" cy="152400"/>
          </a:xfrm>
          <a:prstGeom prst="rect">
            <a:avLst/>
          </a:prstGeom>
        </p:spPr>
      </p:pic>
      <p:pic>
        <p:nvPicPr>
          <p:cNvPr id="41" name="Image 13" descr="/var/folders/1y/yzhkrds14j1gm67qjvlds8tm7vvy2b/T/icon-icon-3ozcn4b62-1767665851255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3848100"/>
            <a:ext cx="152400" cy="152400"/>
          </a:xfrm>
          <a:prstGeom prst="rect">
            <a:avLst/>
          </a:prstGeom>
        </p:spPr>
      </p:pic>
      <p:pic>
        <p:nvPicPr>
          <p:cNvPr id="42" name="Image 14" descr="/var/folders/1y/yzhkrds14j1gm67qjvlds8tm7vvy2b/T/icon-icon-67iyq7tmj-1767665851288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191000"/>
            <a:ext cx="152400" cy="152400"/>
          </a:xfrm>
          <a:prstGeom prst="rect">
            <a:avLst/>
          </a:prstGeom>
        </p:spPr>
      </p:pic>
      <p:pic>
        <p:nvPicPr>
          <p:cNvPr id="43" name="Image 15" descr="/var/folders/1y/yzhkrds14j1gm67qjvlds8tm7vvy2b/T/icon-icon-w3v5bphwn-176766585132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4400" y="4676775"/>
            <a:ext cx="100013" cy="133350"/>
          </a:xfrm>
          <a:prstGeom prst="rect">
            <a:avLst/>
          </a:prstGeom>
        </p:spPr>
      </p:pic>
      <p:pic>
        <p:nvPicPr>
          <p:cNvPr id="44" name="Image 16" descr="/var/folders/1y/yzhkrds14j1gm67qjvlds8tm7vvy2b/T/icon-icon-w3v5bphwn-1767665851355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24400" y="4676775"/>
            <a:ext cx="100013" cy="133350"/>
          </a:xfrm>
          <a:prstGeom prst="rect">
            <a:avLst/>
          </a:prstGeom>
        </p:spPr>
      </p:pic>
      <p:pic>
        <p:nvPicPr>
          <p:cNvPr id="45" name="Image 17" descr="/var/folders/1y/yzhkrds14j1gm67qjvlds8tm7vvy2b/T/icon-icon-5l2b36luy-1767665851388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5800" y="2000250"/>
            <a:ext cx="357188" cy="285750"/>
          </a:xfrm>
          <a:prstGeom prst="rect">
            <a:avLst/>
          </a:prstGeom>
        </p:spPr>
      </p:pic>
      <p:pic>
        <p:nvPicPr>
          <p:cNvPr id="46" name="Image 18" descr="/var/folders/1y/yzhkrds14j1gm67qjvlds8tm7vvy2b/T/icon-icon-6epn0w8ue-1767665851421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5800" y="2514600"/>
            <a:ext cx="152400" cy="152400"/>
          </a:xfrm>
          <a:prstGeom prst="rect">
            <a:avLst/>
          </a:prstGeom>
        </p:spPr>
      </p:pic>
      <p:pic>
        <p:nvPicPr>
          <p:cNvPr id="47" name="Image 19" descr="/var/folders/1y/yzhkrds14j1gm67qjvlds8tm7vvy2b/T/icon-icon-514xelq65-1767665851454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5800" y="2857500"/>
            <a:ext cx="152400" cy="152400"/>
          </a:xfrm>
          <a:prstGeom prst="rect">
            <a:avLst/>
          </a:prstGeom>
        </p:spPr>
      </p:pic>
      <p:pic>
        <p:nvPicPr>
          <p:cNvPr id="48" name="Image 20" descr="/var/folders/1y/yzhkrds14j1gm67qjvlds8tm7vvy2b/T/icon-icon-43k9ifmro-1767665851489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3200400"/>
            <a:ext cx="152400" cy="152400"/>
          </a:xfrm>
          <a:prstGeom prst="rect">
            <a:avLst/>
          </a:prstGeom>
        </p:spPr>
      </p:pic>
      <p:pic>
        <p:nvPicPr>
          <p:cNvPr id="49" name="Image 21" descr="/var/folders/1y/yzhkrds14j1gm67qjvlds8tm7vvy2b/T/icon-icon-6epn0w8ue-1767665851522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800" y="2514600"/>
            <a:ext cx="152400" cy="152400"/>
          </a:xfrm>
          <a:prstGeom prst="rect">
            <a:avLst/>
          </a:prstGeom>
        </p:spPr>
      </p:pic>
      <p:pic>
        <p:nvPicPr>
          <p:cNvPr id="50" name="Image 22" descr="/var/folders/1y/yzhkrds14j1gm67qjvlds8tm7vvy2b/T/icon-icon-514xelq65-1767665851555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5800" y="2857500"/>
            <a:ext cx="152400" cy="152400"/>
          </a:xfrm>
          <a:prstGeom prst="rect">
            <a:avLst/>
          </a:prstGeom>
        </p:spPr>
      </p:pic>
      <p:pic>
        <p:nvPicPr>
          <p:cNvPr id="51" name="Image 23" descr="/var/folders/1y/yzhkrds14j1gm67qjvlds8tm7vvy2b/T/icon-icon-43k9ifmro-1767665851588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5800" y="3200400"/>
            <a:ext cx="152400" cy="152400"/>
          </a:xfrm>
          <a:prstGeom prst="rect">
            <a:avLst/>
          </a:prstGeom>
        </p:spPr>
      </p:pic>
      <p:pic>
        <p:nvPicPr>
          <p:cNvPr id="52" name="Image 24" descr="/var/folders/1y/yzhkrds14j1gm67qjvlds8tm7vvy2b/T/icon-icon-2v0v85po7-1767665851622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58200" y="3686175"/>
            <a:ext cx="100013" cy="133350"/>
          </a:xfrm>
          <a:prstGeom prst="rect">
            <a:avLst/>
          </a:prstGeom>
        </p:spPr>
      </p:pic>
      <p:pic>
        <p:nvPicPr>
          <p:cNvPr id="53" name="Image 25" descr="/var/folders/1y/yzhkrds14j1gm67qjvlds8tm7vvy2b/T/icon-icon-2v0v85po7-1767665851655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58200" y="3686175"/>
            <a:ext cx="100013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807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952500"/>
            <a:ext cx="450354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2354" y="609600"/>
            <a:ext cx="1057744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Power of Partnership: Our B2B &amp; Corporate Ecosystem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600200"/>
            <a:ext cx="11192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Dook Travels, we believe in building win-win partnerships that drive growth for both parties. Our integrated ecosystem provides comprehensive support for travel agents and tailored solutions for corporate clients.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362200"/>
            <a:ext cx="5334000" cy="4610100"/>
          </a:xfrm>
          <a:prstGeom prst="roundRect">
            <a:avLst>
              <a:gd name="adj" fmla="val 165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2590800"/>
            <a:ext cx="49743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Empowering Our Agent Network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30480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7250" y="3048000"/>
            <a:ext cx="0" cy="10287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" y="32004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57350" y="32004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Innovative B2B Portal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57350" y="3467100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Instantly book flights, hotels, meals, and tours with live inventory and dynamic pricing.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200" y="42291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57250" y="4229100"/>
            <a:ext cx="0" cy="10287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" y="43815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57350" y="43815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Dedicated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57350" y="4648200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dedicated account manager for training, support, and query resolution.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8200" y="54102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7250" y="5410200"/>
            <a:ext cx="0" cy="10287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55626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57350" y="55626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Best-in-Market 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57350" y="5829300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Unbeatable rates and commissions that help you grow your business.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48400" y="2362200"/>
            <a:ext cx="5334000" cy="4610100"/>
          </a:xfrm>
          <a:prstGeom prst="roundRect">
            <a:avLst>
              <a:gd name="adj" fmla="val 1653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77000" y="2590800"/>
            <a:ext cx="497433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Trusted Choice for Corporate Travel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77000" y="33528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496050" y="3352800"/>
            <a:ext cx="0" cy="10287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7500" y="35052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96150" y="35052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Tailored MICE Solutions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96150" y="3771900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MICE solutions tailored to your company's objectives and budget.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7000" y="45339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496050" y="4533900"/>
            <a:ext cx="0" cy="10287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7500" y="46863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296150" y="46863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Large-Scale Events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96150" y="4953000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Expertise in handling incentive tours, conferences, and company offsites with precision and creativity.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77000" y="5715000"/>
            <a:ext cx="48768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496050" y="5715000"/>
            <a:ext cx="0" cy="102870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7500" y="58674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296150" y="5867400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Global Coordination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96150" y="6134100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single, reliable point of contact for seamless global coordination of all your travel needs.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9872" y="7200900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We Succeed When Our Partners Succeed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669018" y="7620000"/>
            <a:ext cx="300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8/12</a:t>
            </a:r>
            <a:endParaRPr lang="en-US" sz="1200" dirty="0"/>
          </a:p>
        </p:txBody>
      </p:sp>
      <p:pic>
        <p:nvPicPr>
          <p:cNvPr id="42" name="Image 0" descr="/var/folders/1y/yzhkrds14j1gm67qjvlds8tm7vvy2b/T/icon-icon-rkfim8dd7-1767665853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628900"/>
            <a:ext cx="285750" cy="228600"/>
          </a:xfrm>
          <a:prstGeom prst="rect">
            <a:avLst/>
          </a:prstGeom>
        </p:spPr>
      </p:pic>
      <p:pic>
        <p:nvPicPr>
          <p:cNvPr id="43" name="Image 1" descr="/var/folders/1y/yzhkrds14j1gm67qjvlds8tm7vvy2b/T/icon-icon-rkfim8dd7-17676658535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28900"/>
            <a:ext cx="285750" cy="228600"/>
          </a:xfrm>
          <a:prstGeom prst="rect">
            <a:avLst/>
          </a:prstGeom>
        </p:spPr>
      </p:pic>
      <p:pic>
        <p:nvPicPr>
          <p:cNvPr id="44" name="Image 2" descr="/var/folders/1y/yzhkrds14j1gm67qjvlds8tm7vvy2b/T/icon-icon-icmyr6z77-176766585362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3305175"/>
            <a:ext cx="190500" cy="266700"/>
          </a:xfrm>
          <a:prstGeom prst="rect">
            <a:avLst/>
          </a:prstGeom>
        </p:spPr>
      </p:pic>
      <p:pic>
        <p:nvPicPr>
          <p:cNvPr id="45" name="Image 3" descr="/var/folders/1y/yzhkrds14j1gm67qjvlds8tm7vvy2b/T/icon-icon-isyia64sd-176766585365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575" y="4486275"/>
            <a:ext cx="190500" cy="266700"/>
          </a:xfrm>
          <a:prstGeom prst="rect">
            <a:avLst/>
          </a:prstGeom>
        </p:spPr>
      </p:pic>
      <p:pic>
        <p:nvPicPr>
          <p:cNvPr id="46" name="Image 4" descr="/var/folders/1y/yzhkrds14j1gm67qjvlds8tm7vvy2b/T/icon-icon-m87xfakn3-176766585368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575" y="5667375"/>
            <a:ext cx="190500" cy="266700"/>
          </a:xfrm>
          <a:prstGeom prst="rect">
            <a:avLst/>
          </a:prstGeom>
        </p:spPr>
      </p:pic>
      <p:pic>
        <p:nvPicPr>
          <p:cNvPr id="47" name="Image 5" descr="/var/folders/1y/yzhkrds14j1gm67qjvlds8tm7vvy2b/T/icon-icon-82ekpxl77-176766585372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781300"/>
            <a:ext cx="171450" cy="228600"/>
          </a:xfrm>
          <a:prstGeom prst="rect">
            <a:avLst/>
          </a:prstGeom>
        </p:spPr>
      </p:pic>
      <p:pic>
        <p:nvPicPr>
          <p:cNvPr id="48" name="Image 6" descr="/var/folders/1y/yzhkrds14j1gm67qjvlds8tm7vvy2b/T/icon-icon-82ekpxl77-176766585375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781300"/>
            <a:ext cx="171450" cy="228600"/>
          </a:xfrm>
          <a:prstGeom prst="rect">
            <a:avLst/>
          </a:prstGeom>
        </p:spPr>
      </p:pic>
      <p:pic>
        <p:nvPicPr>
          <p:cNvPr id="49" name="Image 7" descr="/var/folders/1y/yzhkrds14j1gm67qjvlds8tm7vvy2b/T/icon-icon-zndk0ohm9-176766585378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563" y="3609975"/>
            <a:ext cx="238125" cy="266700"/>
          </a:xfrm>
          <a:prstGeom prst="rect">
            <a:avLst/>
          </a:prstGeom>
        </p:spPr>
      </p:pic>
      <p:pic>
        <p:nvPicPr>
          <p:cNvPr id="50" name="Image 8" descr="/var/folders/1y/yzhkrds14j1gm67qjvlds8tm7vvy2b/T/icon-icon-j4d925bgh-176766585382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22281" y="4791075"/>
            <a:ext cx="166688" cy="266700"/>
          </a:xfrm>
          <a:prstGeom prst="rect">
            <a:avLst/>
          </a:prstGeom>
        </p:spPr>
      </p:pic>
      <p:pic>
        <p:nvPicPr>
          <p:cNvPr id="51" name="Image 9" descr="/var/folders/1y/yzhkrds14j1gm67qjvlds8tm7vvy2b/T/icon-icon-ai6ygcazj-176766585385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6563" y="5972175"/>
            <a:ext cx="238125" cy="266700"/>
          </a:xfrm>
          <a:prstGeom prst="rect">
            <a:avLst/>
          </a:prstGeom>
        </p:spPr>
      </p:pic>
      <p:pic>
        <p:nvPicPr>
          <p:cNvPr id="52" name="Image 10" descr="/var/folders/1y/yzhkrds14j1gm67qjvlds8tm7vvy2b/T/icon-icon-6bw034qz0-1767665853897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6720" y="7239000"/>
            <a:ext cx="214313" cy="190500"/>
          </a:xfrm>
          <a:prstGeom prst="rect">
            <a:avLst/>
          </a:prstGeom>
        </p:spPr>
      </p:pic>
      <p:pic>
        <p:nvPicPr>
          <p:cNvPr id="53" name="Image 11" descr="/var/folders/1y/yzhkrds14j1gm67qjvlds8tm7vvy2b/T/icon-icon-uz34atnlu-1767665853939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0968" y="7239000"/>
            <a:ext cx="214313" cy="190500"/>
          </a:xfrm>
          <a:prstGeom prst="rect">
            <a:avLst/>
          </a:prstGeom>
        </p:spPr>
      </p:pic>
      <p:pic>
        <p:nvPicPr>
          <p:cNvPr id="54" name="Image 12" descr="/var/folders/1y/yzhkrds14j1gm67qjvlds8tm7vvy2b/T/icon-icon-6bw034qz0-176766585397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56720" y="7239000"/>
            <a:ext cx="214313" cy="190500"/>
          </a:xfrm>
          <a:prstGeom prst="rect">
            <a:avLst/>
          </a:prstGeom>
        </p:spPr>
      </p:pic>
      <p:pic>
        <p:nvPicPr>
          <p:cNvPr id="55" name="Image 13" descr="/var/folders/1y/yzhkrds14j1gm67qjvlds8tm7vvy2b/T/icon-icon-uz34atnlu-176766585400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0968" y="7239000"/>
            <a:ext cx="214313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9246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7581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Dook Difference: A Clear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219200"/>
            <a:ext cx="11192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settle for a follower? Partner with the undisputed market leader. Dook Travels stands apart with unique advantages that others simply cannot match.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1981200"/>
            <a:ext cx="10972800" cy="3267075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3024" y="1981200"/>
            <a:ext cx="3730752" cy="461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30624" y="1981200"/>
            <a:ext cx="3730752" cy="461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Dook Travels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88224" y="1981200"/>
            <a:ext cx="3730752" cy="46196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 DMCs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3024" y="244316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Own Indian Restaurants in CIS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30624" y="244316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88224" y="244316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/ Rarely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3024" y="290988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Pioneer in Indian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30624" y="290988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Since 2010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88224" y="290988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Follower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3024" y="337661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Comprehensive B2B Tech Platform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30624" y="337661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88224" y="337661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Limited / None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3024" y="384333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Specialized Indian Market Focus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30624" y="384333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Core DNA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88224" y="384333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General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3024" y="431006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On-Ground Offices in 9+ Countries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30624" y="431006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88224" y="4310063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Limited Presence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3024" y="477678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Proven MICE &amp; Corporate Expertise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30624" y="477678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Yes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88224" y="4776788"/>
            <a:ext cx="3730752" cy="466725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Variable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9600" y="5476875"/>
            <a:ext cx="10972800" cy="838200"/>
          </a:xfrm>
          <a:prstGeom prst="roundRect">
            <a:avLst>
              <a:gd name="adj" fmla="val 9091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28650" y="5476875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0100" y="5629275"/>
            <a:ext cx="1084249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choice is clear: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When you partner with Dook Travels, you gain advantages that simply aren't available elsewhere in the market.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676459" y="6467475"/>
            <a:ext cx="292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9/12</a:t>
            </a:r>
            <a:endParaRPr lang="en-US" sz="1200" dirty="0"/>
          </a:p>
        </p:txBody>
      </p:sp>
      <p:pic>
        <p:nvPicPr>
          <p:cNvPr id="32" name="Image 0" descr="/var/folders/1y/yzhkrds14j1gm67qjvlds8tm7vvy2b/T/icon-icon-lo6ji3wm1-17676658558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773" y="2133600"/>
            <a:ext cx="171450" cy="152400"/>
          </a:xfrm>
          <a:prstGeom prst="rect">
            <a:avLst/>
          </a:prstGeom>
        </p:spPr>
      </p:pic>
      <p:pic>
        <p:nvPicPr>
          <p:cNvPr id="33" name="Image 1" descr="/var/folders/1y/yzhkrds14j1gm67qjvlds8tm7vvy2b/T/icon-icon-lo6ji3wm1-176766585587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773" y="2133600"/>
            <a:ext cx="171450" cy="152400"/>
          </a:xfrm>
          <a:prstGeom prst="rect">
            <a:avLst/>
          </a:prstGeom>
        </p:spPr>
      </p:pic>
      <p:pic>
        <p:nvPicPr>
          <p:cNvPr id="34" name="Image 2" descr="/var/folders/1y/yzhkrds14j1gm67qjvlds8tm7vvy2b/T/icon-icon-ccazbnhne-17676658559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13" y="2600325"/>
            <a:ext cx="133350" cy="152400"/>
          </a:xfrm>
          <a:prstGeom prst="rect">
            <a:avLst/>
          </a:prstGeom>
        </p:spPr>
      </p:pic>
      <p:pic>
        <p:nvPicPr>
          <p:cNvPr id="35" name="Image 3" descr="/var/folders/1y/yzhkrds14j1gm67qjvlds8tm7vvy2b/T/icon-icon-ccazbnhne-176766585593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13" y="2600325"/>
            <a:ext cx="133350" cy="152400"/>
          </a:xfrm>
          <a:prstGeom prst="rect">
            <a:avLst/>
          </a:prstGeom>
        </p:spPr>
      </p:pic>
      <p:pic>
        <p:nvPicPr>
          <p:cNvPr id="36" name="Image 4" descr="/var/folders/1y/yzhkrds14j1gm67qjvlds8tm7vvy2b/T/icon-icon-g3gsz0rj2-176766585597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588" y="2590800"/>
            <a:ext cx="152400" cy="152400"/>
          </a:xfrm>
          <a:prstGeom prst="rect">
            <a:avLst/>
          </a:prstGeom>
        </p:spPr>
      </p:pic>
      <p:pic>
        <p:nvPicPr>
          <p:cNvPr id="37" name="Image 5" descr="/var/folders/1y/yzhkrds14j1gm67qjvlds8tm7vvy2b/T/icon-icon-g3gsz0rj2-176766585600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588" y="2590800"/>
            <a:ext cx="152400" cy="152400"/>
          </a:xfrm>
          <a:prstGeom prst="rect">
            <a:avLst/>
          </a:prstGeom>
        </p:spPr>
      </p:pic>
      <p:pic>
        <p:nvPicPr>
          <p:cNvPr id="38" name="Image 6" descr="/var/folders/1y/yzhkrds14j1gm67qjvlds8tm7vvy2b/T/icon-icon-25xzd6s24-176766585603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6302" y="2590800"/>
            <a:ext cx="152400" cy="152400"/>
          </a:xfrm>
          <a:prstGeom prst="rect">
            <a:avLst/>
          </a:prstGeom>
        </p:spPr>
      </p:pic>
      <p:pic>
        <p:nvPicPr>
          <p:cNvPr id="39" name="Image 7" descr="/var/folders/1y/yzhkrds14j1gm67qjvlds8tm7vvy2b/T/icon-icon-25xzd6s24-176766585607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302" y="2590800"/>
            <a:ext cx="152400" cy="152400"/>
          </a:xfrm>
          <a:prstGeom prst="rect">
            <a:avLst/>
          </a:prstGeom>
        </p:spPr>
      </p:pic>
      <p:pic>
        <p:nvPicPr>
          <p:cNvPr id="40" name="Image 8" descr="/var/folders/1y/yzhkrds14j1gm67qjvlds8tm7vvy2b/T/icon-icon-llkgrt5te-176766585610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814" y="3067050"/>
            <a:ext cx="152400" cy="152400"/>
          </a:xfrm>
          <a:prstGeom prst="rect">
            <a:avLst/>
          </a:prstGeom>
        </p:spPr>
      </p:pic>
      <p:pic>
        <p:nvPicPr>
          <p:cNvPr id="41" name="Image 9" descr="/var/folders/1y/yzhkrds14j1gm67qjvlds8tm7vvy2b/T/icon-icon-llkgrt5te-176766585613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9814" y="3067050"/>
            <a:ext cx="152400" cy="152400"/>
          </a:xfrm>
          <a:prstGeom prst="rect">
            <a:avLst/>
          </a:prstGeom>
        </p:spPr>
      </p:pic>
      <p:pic>
        <p:nvPicPr>
          <p:cNvPr id="42" name="Image 10" descr="/var/folders/1y/yzhkrds14j1gm67qjvlds8tm7vvy2b/T/icon-icon-z1d82aphq-176766585617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2451" y="3057525"/>
            <a:ext cx="152400" cy="152400"/>
          </a:xfrm>
          <a:prstGeom prst="rect">
            <a:avLst/>
          </a:prstGeom>
        </p:spPr>
      </p:pic>
      <p:pic>
        <p:nvPicPr>
          <p:cNvPr id="43" name="Image 11" descr="/var/folders/1y/yzhkrds14j1gm67qjvlds8tm7vvy2b/T/icon-icon-z1d82aphq-176766585620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62451" y="3057525"/>
            <a:ext cx="152400" cy="152400"/>
          </a:xfrm>
          <a:prstGeom prst="rect">
            <a:avLst/>
          </a:prstGeom>
        </p:spPr>
      </p:pic>
      <p:pic>
        <p:nvPicPr>
          <p:cNvPr id="44" name="Image 12" descr="/var/folders/1y/yzhkrds14j1gm67qjvlds8tm7vvy2b/T/icon-icon-usayzi1va-1767665856239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13515" y="3057525"/>
            <a:ext cx="152400" cy="152400"/>
          </a:xfrm>
          <a:prstGeom prst="rect">
            <a:avLst/>
          </a:prstGeom>
        </p:spPr>
      </p:pic>
      <p:pic>
        <p:nvPicPr>
          <p:cNvPr id="45" name="Image 13" descr="/var/folders/1y/yzhkrds14j1gm67qjvlds8tm7vvy2b/T/icon-icon-usayzi1va-176766585627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13515" y="3057525"/>
            <a:ext cx="152400" cy="152400"/>
          </a:xfrm>
          <a:prstGeom prst="rect">
            <a:avLst/>
          </a:prstGeom>
        </p:spPr>
      </p:pic>
      <p:pic>
        <p:nvPicPr>
          <p:cNvPr id="46" name="Image 14" descr="/var/folders/1y/yzhkrds14j1gm67qjvlds8tm7vvy2b/T/icon-icon-p00donucu-17676658563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4435" y="3533775"/>
            <a:ext cx="190500" cy="152400"/>
          </a:xfrm>
          <a:prstGeom prst="rect">
            <a:avLst/>
          </a:prstGeom>
        </p:spPr>
      </p:pic>
      <p:pic>
        <p:nvPicPr>
          <p:cNvPr id="47" name="Image 15" descr="/var/folders/1y/yzhkrds14j1gm67qjvlds8tm7vvy2b/T/icon-icon-p00donucu-1767665856339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4435" y="3533775"/>
            <a:ext cx="190500" cy="152400"/>
          </a:xfrm>
          <a:prstGeom prst="rect">
            <a:avLst/>
          </a:prstGeom>
        </p:spPr>
      </p:pic>
      <p:pic>
        <p:nvPicPr>
          <p:cNvPr id="48" name="Image 16" descr="/var/folders/1y/yzhkrds14j1gm67qjvlds8tm7vvy2b/T/icon-icon-a7en9ywor-176766585637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43588" y="3524250"/>
            <a:ext cx="152400" cy="152400"/>
          </a:xfrm>
          <a:prstGeom prst="rect">
            <a:avLst/>
          </a:prstGeom>
        </p:spPr>
      </p:pic>
      <p:pic>
        <p:nvPicPr>
          <p:cNvPr id="49" name="Image 17" descr="/var/folders/1y/yzhkrds14j1gm67qjvlds8tm7vvy2b/T/icon-icon-a7en9ywor-1767665856405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43588" y="3524250"/>
            <a:ext cx="152400" cy="152400"/>
          </a:xfrm>
          <a:prstGeom prst="rect">
            <a:avLst/>
          </a:prstGeom>
        </p:spPr>
      </p:pic>
      <p:pic>
        <p:nvPicPr>
          <p:cNvPr id="50" name="Image 18" descr="/var/folders/1y/yzhkrds14j1gm67qjvlds8tm7vvy2b/T/icon-icon-y3gsfishb-1767665856438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72265" y="3524250"/>
            <a:ext cx="152400" cy="152400"/>
          </a:xfrm>
          <a:prstGeom prst="rect">
            <a:avLst/>
          </a:prstGeom>
        </p:spPr>
      </p:pic>
      <p:pic>
        <p:nvPicPr>
          <p:cNvPr id="51" name="Image 19" descr="/var/folders/1y/yzhkrds14j1gm67qjvlds8tm7vvy2b/T/icon-icon-y3gsfishb-176766585647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72265" y="3524250"/>
            <a:ext cx="152400" cy="152400"/>
          </a:xfrm>
          <a:prstGeom prst="rect">
            <a:avLst/>
          </a:prstGeom>
        </p:spPr>
      </p:pic>
      <p:pic>
        <p:nvPicPr>
          <p:cNvPr id="52" name="Image 20" descr="/var/folders/1y/yzhkrds14j1gm67qjvlds8tm7vvy2b/T/icon-icon-m2l2p4cku-1767665856505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9302" y="4000500"/>
            <a:ext cx="152400" cy="152400"/>
          </a:xfrm>
          <a:prstGeom prst="rect">
            <a:avLst/>
          </a:prstGeom>
        </p:spPr>
      </p:pic>
      <p:pic>
        <p:nvPicPr>
          <p:cNvPr id="53" name="Image 21" descr="/var/folders/1y/yzhkrds14j1gm67qjvlds8tm7vvy2b/T/icon-icon-m2l2p4cku-1767665856539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9302" y="4000500"/>
            <a:ext cx="152400" cy="152400"/>
          </a:xfrm>
          <a:prstGeom prst="rect">
            <a:avLst/>
          </a:prstGeom>
        </p:spPr>
      </p:pic>
      <p:pic>
        <p:nvPicPr>
          <p:cNvPr id="54" name="Image 22" descr="/var/folders/1y/yzhkrds14j1gm67qjvlds8tm7vvy2b/T/icon-icon-hmjxcz37n-1767665856572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90729" y="3990975"/>
            <a:ext cx="152400" cy="152400"/>
          </a:xfrm>
          <a:prstGeom prst="rect">
            <a:avLst/>
          </a:prstGeom>
        </p:spPr>
      </p:pic>
      <p:pic>
        <p:nvPicPr>
          <p:cNvPr id="55" name="Image 23" descr="/var/folders/1y/yzhkrds14j1gm67qjvlds8tm7vvy2b/T/icon-icon-hmjxcz37n-1767665856604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590729" y="3990975"/>
            <a:ext cx="152400" cy="152400"/>
          </a:xfrm>
          <a:prstGeom prst="rect">
            <a:avLst/>
          </a:prstGeom>
        </p:spPr>
      </p:pic>
      <p:pic>
        <p:nvPicPr>
          <p:cNvPr id="56" name="Image 24" descr="/var/folders/1y/yzhkrds14j1gm67qjvlds8tm7vvy2b/T/icon-icon-do2kz4jd6-1767665856639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42834" y="3990975"/>
            <a:ext cx="152400" cy="152400"/>
          </a:xfrm>
          <a:prstGeom prst="rect">
            <a:avLst/>
          </a:prstGeom>
        </p:spPr>
      </p:pic>
      <p:pic>
        <p:nvPicPr>
          <p:cNvPr id="57" name="Image 25" descr="/var/folders/1y/yzhkrds14j1gm67qjvlds8tm7vvy2b/T/icon-icon-do2kz4jd6-1767665856672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42834" y="3990975"/>
            <a:ext cx="152400" cy="152400"/>
          </a:xfrm>
          <a:prstGeom prst="rect">
            <a:avLst/>
          </a:prstGeom>
        </p:spPr>
      </p:pic>
      <p:pic>
        <p:nvPicPr>
          <p:cNvPr id="58" name="Image 26" descr="/var/folders/1y/yzhkrds14j1gm67qjvlds8tm7vvy2b/T/icon-icon-8p4abkhu9-1767665856705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7836" y="4467225"/>
            <a:ext cx="114300" cy="152400"/>
          </a:xfrm>
          <a:prstGeom prst="rect">
            <a:avLst/>
          </a:prstGeom>
        </p:spPr>
      </p:pic>
      <p:pic>
        <p:nvPicPr>
          <p:cNvPr id="59" name="Image 27" descr="/var/folders/1y/yzhkrds14j1gm67qjvlds8tm7vvy2b/T/icon-icon-8p4abkhu9-1767665856739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17836" y="4467225"/>
            <a:ext cx="114300" cy="152400"/>
          </a:xfrm>
          <a:prstGeom prst="rect">
            <a:avLst/>
          </a:prstGeom>
        </p:spPr>
      </p:pic>
      <p:pic>
        <p:nvPicPr>
          <p:cNvPr id="60" name="Image 28" descr="/var/folders/1y/yzhkrds14j1gm67qjvlds8tm7vvy2b/T/icon-icon-ur68ahhcq-1767665856772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43588" y="4457700"/>
            <a:ext cx="152400" cy="152400"/>
          </a:xfrm>
          <a:prstGeom prst="rect">
            <a:avLst/>
          </a:prstGeom>
        </p:spPr>
      </p:pic>
      <p:pic>
        <p:nvPicPr>
          <p:cNvPr id="61" name="Image 29" descr="/var/folders/1y/yzhkrds14j1gm67qjvlds8tm7vvy2b/T/icon-icon-ur68ahhcq-1767665856803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43588" y="4457700"/>
            <a:ext cx="152400" cy="152400"/>
          </a:xfrm>
          <a:prstGeom prst="rect">
            <a:avLst/>
          </a:prstGeom>
        </p:spPr>
      </p:pic>
      <p:pic>
        <p:nvPicPr>
          <p:cNvPr id="62" name="Image 30" descr="/var/folders/1y/yzhkrds14j1gm67qjvlds8tm7vvy2b/T/icon-icon-1vwd16asb-176766585683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973443" y="4457700"/>
            <a:ext cx="152400" cy="152400"/>
          </a:xfrm>
          <a:prstGeom prst="rect">
            <a:avLst/>
          </a:prstGeom>
        </p:spPr>
      </p:pic>
      <p:pic>
        <p:nvPicPr>
          <p:cNvPr id="63" name="Image 31" descr="/var/folders/1y/yzhkrds14j1gm67qjvlds8tm7vvy2b/T/icon-icon-1vwd16asb-1767665856872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73443" y="4457700"/>
            <a:ext cx="152400" cy="152400"/>
          </a:xfrm>
          <a:prstGeom prst="rect">
            <a:avLst/>
          </a:prstGeom>
        </p:spPr>
      </p:pic>
      <p:pic>
        <p:nvPicPr>
          <p:cNvPr id="64" name="Image 32" descr="/var/folders/1y/yzhkrds14j1gm67qjvlds8tm7vvy2b/T/icon-icon-2kw5jee3l-1767665856905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4584" y="4933950"/>
            <a:ext cx="190500" cy="152400"/>
          </a:xfrm>
          <a:prstGeom prst="rect">
            <a:avLst/>
          </a:prstGeom>
        </p:spPr>
      </p:pic>
      <p:pic>
        <p:nvPicPr>
          <p:cNvPr id="65" name="Image 33" descr="/var/folders/1y/yzhkrds14j1gm67qjvlds8tm7vvy2b/T/icon-icon-2kw5jee3l-1767665856938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4584" y="4933950"/>
            <a:ext cx="190500" cy="152400"/>
          </a:xfrm>
          <a:prstGeom prst="rect">
            <a:avLst/>
          </a:prstGeom>
        </p:spPr>
      </p:pic>
      <p:pic>
        <p:nvPicPr>
          <p:cNvPr id="66" name="Image 34" descr="/var/folders/1y/yzhkrds14j1gm67qjvlds8tm7vvy2b/T/icon-icon-s5kax8iov-1767665856972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843588" y="4924425"/>
            <a:ext cx="152400" cy="152400"/>
          </a:xfrm>
          <a:prstGeom prst="rect">
            <a:avLst/>
          </a:prstGeom>
        </p:spPr>
      </p:pic>
      <p:pic>
        <p:nvPicPr>
          <p:cNvPr id="67" name="Image 35" descr="/var/folders/1y/yzhkrds14j1gm67qjvlds8tm7vvy2b/T/icon-icon-s5kax8iov-17676658570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843588" y="4924425"/>
            <a:ext cx="152400" cy="152400"/>
          </a:xfrm>
          <a:prstGeom prst="rect">
            <a:avLst/>
          </a:prstGeom>
        </p:spPr>
      </p:pic>
      <p:pic>
        <p:nvPicPr>
          <p:cNvPr id="68" name="Image 36" descr="/var/folders/1y/yzhkrds14j1gm67qjvlds8tm7vvy2b/T/icon-icon-tw4qto2qd-176766585703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330630" y="4924425"/>
            <a:ext cx="152400" cy="152400"/>
          </a:xfrm>
          <a:prstGeom prst="rect">
            <a:avLst/>
          </a:prstGeom>
        </p:spPr>
      </p:pic>
      <p:pic>
        <p:nvPicPr>
          <p:cNvPr id="69" name="Image 37" descr="/var/folders/1y/yzhkrds14j1gm67qjvlds8tm7vvy2b/T/icon-icon-tw4qto2qd-1767665857072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330630" y="4924425"/>
            <a:ext cx="152400" cy="152400"/>
          </a:xfrm>
          <a:prstGeom prst="rect">
            <a:avLst/>
          </a:prstGeom>
        </p:spPr>
      </p:pic>
      <p:pic>
        <p:nvPicPr>
          <p:cNvPr id="70" name="Image 38" descr="/var/folders/1y/yzhkrds14j1gm67qjvlds8tm7vvy2b/T/icon-icon-dvmlth8p4-1767665857104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00100" y="5667375"/>
            <a:ext cx="128588" cy="171450"/>
          </a:xfrm>
          <a:prstGeom prst="rect">
            <a:avLst/>
          </a:prstGeom>
        </p:spPr>
      </p:pic>
      <p:pic>
        <p:nvPicPr>
          <p:cNvPr id="71" name="Image 39" descr="/var/folders/1y/yzhkrds14j1gm67qjvlds8tm7vvy2b/T/icon-icon-dvmlth8p4-1767665857138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00100" y="5667375"/>
            <a:ext cx="128588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73288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Legacy of Trust &amp; Success in Numbers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365248" y="1295400"/>
            <a:ext cx="74615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numbers don't just tell a story—they prove our commitment to delivering exceptional travel experiences and building lasting partnerships.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133600"/>
            <a:ext cx="2011561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1820" y="2971800"/>
            <a:ext cx="2251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>
                    <a:alpha val="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500,000+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97992" y="3505200"/>
            <a:ext cx="1234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Happy Travelers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9761" y="2133600"/>
            <a:ext cx="201171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53494" y="2857500"/>
            <a:ext cx="184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>
                    <a:alpha val="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10,000+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062816" y="3390900"/>
            <a:ext cx="158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Travel Agent Partners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90071" y="2133600"/>
            <a:ext cx="201171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11701" y="2857500"/>
            <a:ext cx="1191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>
                    <a:alpha val="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03126" y="3390900"/>
            <a:ext cx="158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Corporate Clients Served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30380" y="2133600"/>
            <a:ext cx="201171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72251" y="2857500"/>
            <a:ext cx="1150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>
                    <a:alpha val="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543435" y="3390900"/>
            <a:ext cx="158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Dedicated Professionals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70690" y="2133600"/>
            <a:ext cx="2011561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89964" y="2857500"/>
            <a:ext cx="788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E63946">
                    <a:alpha val="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783747" y="3390900"/>
            <a:ext cx="158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Years of Market Leadership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4381500"/>
            <a:ext cx="8534400" cy="1295400"/>
          </a:xfrm>
          <a:prstGeom prst="roundRect">
            <a:avLst>
              <a:gd name="adj" fmla="val 5882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828800" y="4400550"/>
            <a:ext cx="853440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6628" y="4648200"/>
            <a:ext cx="823874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These numbers represent more than just statistics—they represent thousands of successful journeys, meaningful partnerships, and a legacy of trust built on years of expertise in the CIS region.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613356" y="6400800"/>
            <a:ext cx="357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10/12</a:t>
            </a:r>
            <a:endParaRPr lang="en-US" sz="1200" dirty="0"/>
          </a:p>
        </p:txBody>
      </p:sp>
      <p:pic>
        <p:nvPicPr>
          <p:cNvPr id="25" name="Image 0" descr="/var/folders/1y/yzhkrds14j1gm67qjvlds8tm7vvy2b/T/icon-icon-or2wr87ra-17676658589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068" y="2495550"/>
            <a:ext cx="428625" cy="342900"/>
          </a:xfrm>
          <a:prstGeom prst="rect">
            <a:avLst/>
          </a:prstGeom>
        </p:spPr>
      </p:pic>
      <p:pic>
        <p:nvPicPr>
          <p:cNvPr id="26" name="Image 1" descr="/var/folders/1y/yzhkrds14j1gm67qjvlds8tm7vvy2b/T/icon-icon-aikx7jhlk-17676658590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229" y="2381250"/>
            <a:ext cx="428625" cy="342900"/>
          </a:xfrm>
          <a:prstGeom prst="rect">
            <a:avLst/>
          </a:prstGeom>
        </p:spPr>
      </p:pic>
      <p:pic>
        <p:nvPicPr>
          <p:cNvPr id="27" name="Image 2" descr="/var/folders/1y/yzhkrds14j1gm67qjvlds8tm7vvy2b/T/icon-icon-qc74gisin-176766585903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264" y="2381250"/>
            <a:ext cx="257175" cy="342900"/>
          </a:xfrm>
          <a:prstGeom prst="rect">
            <a:avLst/>
          </a:prstGeom>
        </p:spPr>
      </p:pic>
      <p:pic>
        <p:nvPicPr>
          <p:cNvPr id="28" name="Image 3" descr="/var/folders/1y/yzhkrds14j1gm67qjvlds8tm7vvy2b/T/icon-icon-42hxbq41f-176766585907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142" y="2381250"/>
            <a:ext cx="300038" cy="342900"/>
          </a:xfrm>
          <a:prstGeom prst="rect">
            <a:avLst/>
          </a:prstGeom>
        </p:spPr>
      </p:pic>
      <p:pic>
        <p:nvPicPr>
          <p:cNvPr id="29" name="Image 4" descr="/var/folders/1y/yzhkrds14j1gm67qjvlds8tm7vvy2b/T/icon-icon-ko7n9zs34-17676658591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6452" y="2381250"/>
            <a:ext cx="300038" cy="342900"/>
          </a:xfrm>
          <a:prstGeom prst="rect">
            <a:avLst/>
          </a:prstGeom>
        </p:spPr>
      </p:pic>
      <p:pic>
        <p:nvPicPr>
          <p:cNvPr id="30" name="Image 5" descr="/var/folders/1y/yzhkrds14j1gm67qjvlds8tm7vvy2b/T/icon-icon-wuy6mpohu-176766585913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3062" y="4686300"/>
            <a:ext cx="166688" cy="190500"/>
          </a:xfrm>
          <a:prstGeom prst="rect">
            <a:avLst/>
          </a:prstGeom>
        </p:spPr>
      </p:pic>
      <p:pic>
        <p:nvPicPr>
          <p:cNvPr id="31" name="Image 6" descr="/var/folders/1y/yzhkrds14j1gm67qjvlds8tm7vvy2b/T/icon-icon-i6xkqaqo4-176766585917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240" y="5219700"/>
            <a:ext cx="166688" cy="190500"/>
          </a:xfrm>
          <a:prstGeom prst="rect">
            <a:avLst/>
          </a:prstGeom>
        </p:spPr>
      </p:pic>
      <p:pic>
        <p:nvPicPr>
          <p:cNvPr id="32" name="Image 7" descr="/var/folders/1y/yzhkrds14j1gm67qjvlds8tm7vvy2b/T/icon-icon-wuy6mpohu-176766585920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3062" y="4686300"/>
            <a:ext cx="166688" cy="190500"/>
          </a:xfrm>
          <a:prstGeom prst="rect">
            <a:avLst/>
          </a:prstGeom>
        </p:spPr>
      </p:pic>
      <p:pic>
        <p:nvPicPr>
          <p:cNvPr id="33" name="Image 8" descr="/var/folders/1y/yzhkrds14j1gm67qjvlds8tm7vvy2b/T/icon-icon-i6xkqaqo4-176766585923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8240" y="5219700"/>
            <a:ext cx="166688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1723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45125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Partner for Success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371600"/>
            <a:ext cx="1119225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Succeed When Our Partners Succeed. Join forces with Dook Travels for mutual growth and unforgettable travel experiences.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371725"/>
            <a:ext cx="3454301" cy="3581400"/>
          </a:xfrm>
          <a:prstGeom prst="roundRect">
            <a:avLst>
              <a:gd name="adj" fmla="val 220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9600" y="2390775"/>
            <a:ext cx="3454301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5750" y="2638425"/>
            <a:ext cx="762000" cy="762000"/>
          </a:xfrm>
          <a:prstGeom prst="roundRect">
            <a:avLst>
              <a:gd name="adj" fmla="val 12498750"/>
            </a:avLst>
          </a:prstGeom>
          <a:solidFill>
            <a:srgbClr val="F8F9F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8229" y="3629025"/>
            <a:ext cx="3057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Travel Agents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8229" y="4086225"/>
            <a:ext cx="30570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our exclusive network to unlock the most comprehensive CIS &amp; Turkey product portfolio and drive your business growth.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68701" y="2371725"/>
            <a:ext cx="3454450" cy="3581400"/>
          </a:xfrm>
          <a:prstGeom prst="roundRect">
            <a:avLst>
              <a:gd name="adj" fmla="val 220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68701" y="2390775"/>
            <a:ext cx="345445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4851" y="2638425"/>
            <a:ext cx="762000" cy="762000"/>
          </a:xfrm>
          <a:prstGeom prst="roundRect">
            <a:avLst>
              <a:gd name="adj" fmla="val 12498750"/>
            </a:avLst>
          </a:prstGeom>
          <a:solidFill>
            <a:srgbClr val="F8F9F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67328" y="3629025"/>
            <a:ext cx="30571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Corporates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67328" y="4086225"/>
            <a:ext cx="30571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us to design your next unforgettable incentive trip, conference, or company offsite.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7950" y="2371725"/>
            <a:ext cx="3454301" cy="3581400"/>
          </a:xfrm>
          <a:prstGeom prst="roundRect">
            <a:avLst>
              <a:gd name="adj" fmla="val 220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127950" y="2390775"/>
            <a:ext cx="3454301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4101" y="2638425"/>
            <a:ext cx="762000" cy="762000"/>
          </a:xfrm>
          <a:prstGeom prst="roundRect">
            <a:avLst>
              <a:gd name="adj" fmla="val 12498750"/>
            </a:avLst>
          </a:prstGeom>
          <a:solidFill>
            <a:srgbClr val="F8F9FA"/>
          </a:solidFill>
          <a:ln w="19050">
            <a:solidFill>
              <a:srgbClr val="E639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326579" y="3629025"/>
            <a:ext cx="30570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Travelers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6579" y="4086225"/>
            <a:ext cx="30570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1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your next adventure with the confidence that you are traveling with the region's most trusted experts.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9872" y="633412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partners@dooktravels.com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www.dooktravels.com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56219" y="6715125"/>
            <a:ext cx="313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11/12</a:t>
            </a:r>
            <a:endParaRPr lang="en-US" sz="1200" dirty="0"/>
          </a:p>
        </p:txBody>
      </p:sp>
      <p:pic>
        <p:nvPicPr>
          <p:cNvPr id="23" name="Image 0" descr="/var/folders/1y/yzhkrds14j1gm67qjvlds8tm7vvy2b/T/icon-icon-ummez7th3-17676658611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438" y="2847975"/>
            <a:ext cx="428625" cy="342900"/>
          </a:xfrm>
          <a:prstGeom prst="rect">
            <a:avLst/>
          </a:prstGeom>
        </p:spPr>
      </p:pic>
      <p:pic>
        <p:nvPicPr>
          <p:cNvPr id="24" name="Image 1" descr="/var/folders/1y/yzhkrds14j1gm67qjvlds8tm7vvy2b/T/icon-icon-lz7jnjfun-17676658611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264" y="2847975"/>
            <a:ext cx="257175" cy="342900"/>
          </a:xfrm>
          <a:prstGeom prst="rect">
            <a:avLst/>
          </a:prstGeom>
        </p:spPr>
      </p:pic>
      <p:pic>
        <p:nvPicPr>
          <p:cNvPr id="25" name="Image 2" descr="/var/folders/1y/yzhkrds14j1gm67qjvlds8tm7vvy2b/T/icon-icon-dq9caukt1-176766586123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788" y="2847975"/>
            <a:ext cx="428625" cy="342900"/>
          </a:xfrm>
          <a:prstGeom prst="rect">
            <a:avLst/>
          </a:prstGeom>
        </p:spPr>
      </p:pic>
      <p:pic>
        <p:nvPicPr>
          <p:cNvPr id="26" name="Image 3" descr="/var/folders/1y/yzhkrds14j1gm67qjvlds8tm7vvy2b/T/icon-icon-r1n9nkiz9-17676658612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848" y="6362700"/>
            <a:ext cx="152400" cy="152400"/>
          </a:xfrm>
          <a:prstGeom prst="rect">
            <a:avLst/>
          </a:prstGeom>
        </p:spPr>
      </p:pic>
      <p:pic>
        <p:nvPicPr>
          <p:cNvPr id="27" name="Image 4" descr="/var/folders/1y/yzhkrds14j1gm67qjvlds8tm7vvy2b/T/icon-icon-lv5h1qind-176766586129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159" y="6362700"/>
            <a:ext cx="152400" cy="152400"/>
          </a:xfrm>
          <a:prstGeom prst="rect">
            <a:avLst/>
          </a:prstGeom>
        </p:spPr>
      </p:pic>
      <p:pic>
        <p:nvPicPr>
          <p:cNvPr id="28" name="Image 5" descr="/var/folders/1y/yzhkrds14j1gm67qjvlds8tm7vvy2b/T/icon-icon-r1n9nkiz9-17676658613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4848" y="6362700"/>
            <a:ext cx="152400" cy="152400"/>
          </a:xfrm>
          <a:prstGeom prst="rect">
            <a:avLst/>
          </a:prstGeom>
        </p:spPr>
      </p:pic>
      <p:pic>
        <p:nvPicPr>
          <p:cNvPr id="29" name="Image 6" descr="/var/folders/1y/yzhkrds14j1gm67qjvlds8tm7vvy2b/T/icon-icon-lv5h1qind-176766586136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3159" y="63627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429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762000"/>
            <a:ext cx="457200" cy="76200"/>
          </a:xfrm>
          <a:prstGeom prst="rect">
            <a:avLst/>
          </a:prstGeom>
          <a:solidFill>
            <a:srgbClr val="E639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19200" y="609600"/>
            <a:ext cx="343792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 &amp; Connect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371600"/>
            <a:ext cx="1119225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for your interest in Dook Travels. We look forward to connecting with you and discussing how we can work together to create exceptional travel experiences.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209800"/>
            <a:ext cx="5334000" cy="110490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3888" y="2209800"/>
            <a:ext cx="0" cy="110490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9675" y="2457450"/>
            <a:ext cx="8376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9675" y="2819400"/>
            <a:ext cx="45954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www.dooktravels.com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9600" y="3543300"/>
            <a:ext cx="5334000" cy="1371600"/>
          </a:xfrm>
          <a:prstGeom prst="roundRect">
            <a:avLst>
              <a:gd name="adj" fmla="val 5556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23888" y="3543300"/>
            <a:ext cx="0" cy="137160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9675" y="3790950"/>
            <a:ext cx="8821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09675" y="4152900"/>
            <a:ext cx="4595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Partnerships &amp; MICE: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partners@dooktravels.com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9675" y="4457700"/>
            <a:ext cx="4595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</a:t>
            </a:r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General Inquiries:</a:t>
            </a:r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info@dooktravels.com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5143500"/>
            <a:ext cx="5334000" cy="110490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3888" y="5143500"/>
            <a:ext cx="0" cy="1104900"/>
          </a:xfrm>
          <a:prstGeom prst="line">
            <a:avLst/>
          </a:prstGeom>
          <a:noFill/>
          <a:ln w="28575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9675" y="5391150"/>
            <a:ext cx="6620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9675" y="5753100"/>
            <a:ext cx="45954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[Your Primary Contact Number]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48400" y="2209800"/>
            <a:ext cx="5334000" cy="1714500"/>
          </a:xfrm>
          <a:prstGeom prst="roundRect">
            <a:avLst>
              <a:gd name="adj" fmla="val 4444"/>
            </a:avLst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77000" y="2438400"/>
            <a:ext cx="49743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 Our Journey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69548" y="3314700"/>
            <a:ext cx="7600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Facebook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42950" y="3314700"/>
            <a:ext cx="798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48400" y="4152900"/>
            <a:ext cx="5334000" cy="2286000"/>
          </a:xfrm>
          <a:prstGeom prst="roundRect">
            <a:avLst>
              <a:gd name="adj" fmla="val 3333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77000" y="4381500"/>
            <a:ext cx="49743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Partner with the Best?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77000" y="4800600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our exclusive network or request a quote for your next business travel program.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7000" y="5410200"/>
            <a:ext cx="2487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Unparalleled expertise in CIS &amp; Turkey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15400" y="5410200"/>
            <a:ext cx="24871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First-mover advantage since 2010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77000" y="590550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Indian-centric solutions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15400" y="590550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 on-ground infrastructure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623179" y="6972300"/>
            <a:ext cx="3470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12/12</a:t>
            </a:r>
            <a:endParaRPr lang="en-US" sz="1200" dirty="0"/>
          </a:p>
        </p:txBody>
      </p:sp>
      <p:pic>
        <p:nvPicPr>
          <p:cNvPr id="31" name="Image 0" descr="/var/folders/1y/yzhkrds14j1gm67qjvlds8tm7vvy2b/T/icon-icon-ror84u3d7-1767665863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438400"/>
            <a:ext cx="228600" cy="304800"/>
          </a:xfrm>
          <a:prstGeom prst="rect">
            <a:avLst/>
          </a:prstGeom>
        </p:spPr>
      </p:pic>
      <p:pic>
        <p:nvPicPr>
          <p:cNvPr id="32" name="Image 1" descr="/var/folders/1y/yzhkrds14j1gm67qjvlds8tm7vvy2b/T/icon-icon-uma8mqf1p-17676658632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771900"/>
            <a:ext cx="228600" cy="304800"/>
          </a:xfrm>
          <a:prstGeom prst="rect">
            <a:avLst/>
          </a:prstGeom>
        </p:spPr>
      </p:pic>
      <p:pic>
        <p:nvPicPr>
          <p:cNvPr id="33" name="Image 2" descr="/var/folders/1y/yzhkrds14j1gm67qjvlds8tm7vvy2b/T/icon-icon-y2asi5h0m-176766586323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" y="4191000"/>
            <a:ext cx="190500" cy="152400"/>
          </a:xfrm>
          <a:prstGeom prst="rect">
            <a:avLst/>
          </a:prstGeom>
        </p:spPr>
      </p:pic>
      <p:pic>
        <p:nvPicPr>
          <p:cNvPr id="34" name="Image 3" descr="/var/folders/1y/yzhkrds14j1gm67qjvlds8tm7vvy2b/T/icon-icon-y2asi5h0m-176766586327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4191000"/>
            <a:ext cx="190500" cy="152400"/>
          </a:xfrm>
          <a:prstGeom prst="rect">
            <a:avLst/>
          </a:prstGeom>
        </p:spPr>
      </p:pic>
      <p:pic>
        <p:nvPicPr>
          <p:cNvPr id="35" name="Image 4" descr="/var/folders/1y/yzhkrds14j1gm67qjvlds8tm7vvy2b/T/icon-icon-waeywat0b-17676658633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675" y="4495800"/>
            <a:ext cx="152400" cy="152400"/>
          </a:xfrm>
          <a:prstGeom prst="rect">
            <a:avLst/>
          </a:prstGeom>
        </p:spPr>
      </p:pic>
      <p:pic>
        <p:nvPicPr>
          <p:cNvPr id="36" name="Image 5" descr="/var/folders/1y/yzhkrds14j1gm67qjvlds8tm7vvy2b/T/icon-icon-waeywat0b-176766586333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675" y="4495800"/>
            <a:ext cx="152400" cy="152400"/>
          </a:xfrm>
          <a:prstGeom prst="rect">
            <a:avLst/>
          </a:prstGeom>
        </p:spPr>
      </p:pic>
      <p:pic>
        <p:nvPicPr>
          <p:cNvPr id="37" name="Image 6" descr="/var/folders/1y/yzhkrds14j1gm67qjvlds8tm7vvy2b/T/icon-icon-tc10dqwyl-176766586337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5372100"/>
            <a:ext cx="228600" cy="304800"/>
          </a:xfrm>
          <a:prstGeom prst="rect">
            <a:avLst/>
          </a:prstGeom>
        </p:spPr>
      </p:pic>
      <p:pic>
        <p:nvPicPr>
          <p:cNvPr id="38" name="Image 7" descr="/var/folders/1y/yzhkrds14j1gm67qjvlds8tm7vvy2b/T/icon-icon-7kqlo5in9-176766586340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361" y="2876550"/>
            <a:ext cx="214313" cy="342900"/>
          </a:xfrm>
          <a:prstGeom prst="rect">
            <a:avLst/>
          </a:prstGeom>
        </p:spPr>
      </p:pic>
      <p:pic>
        <p:nvPicPr>
          <p:cNvPr id="39" name="Image 8" descr="/var/folders/1y/yzhkrds14j1gm67qjvlds8tm7vvy2b/T/icon-icon-eo0kq53jg-176766586343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2330" y="2876550"/>
            <a:ext cx="300038" cy="342900"/>
          </a:xfrm>
          <a:prstGeom prst="rect">
            <a:avLst/>
          </a:prstGeom>
        </p:spPr>
      </p:pic>
      <p:pic>
        <p:nvPicPr>
          <p:cNvPr id="40" name="Image 9" descr="/var/folders/1y/yzhkrds14j1gm67qjvlds8tm7vvy2b/T/icon-icon-e2w7l5fbl-176766586347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5438775"/>
            <a:ext cx="133350" cy="133350"/>
          </a:xfrm>
          <a:prstGeom prst="rect">
            <a:avLst/>
          </a:prstGeom>
        </p:spPr>
      </p:pic>
      <p:pic>
        <p:nvPicPr>
          <p:cNvPr id="41" name="Image 10" descr="/var/folders/1y/yzhkrds14j1gm67qjvlds8tm7vvy2b/T/icon-icon-e2w7l5fbl-1767665863505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5438775"/>
            <a:ext cx="133350" cy="133350"/>
          </a:xfrm>
          <a:prstGeom prst="rect">
            <a:avLst/>
          </a:prstGeom>
        </p:spPr>
      </p:pic>
      <p:pic>
        <p:nvPicPr>
          <p:cNvPr id="42" name="Image 11" descr="/var/folders/1y/yzhkrds14j1gm67qjvlds8tm7vvy2b/T/icon-icon-0kfw33xq1-176766586353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5438775"/>
            <a:ext cx="133350" cy="133350"/>
          </a:xfrm>
          <a:prstGeom prst="rect">
            <a:avLst/>
          </a:prstGeom>
        </p:spPr>
      </p:pic>
      <p:pic>
        <p:nvPicPr>
          <p:cNvPr id="43" name="Image 12" descr="/var/folders/1y/yzhkrds14j1gm67qjvlds8tm7vvy2b/T/icon-icon-0kfw33xq1-176766586357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5438775"/>
            <a:ext cx="133350" cy="133350"/>
          </a:xfrm>
          <a:prstGeom prst="rect">
            <a:avLst/>
          </a:prstGeom>
        </p:spPr>
      </p:pic>
      <p:pic>
        <p:nvPicPr>
          <p:cNvPr id="44" name="Image 13" descr="/var/folders/1y/yzhkrds14j1gm67qjvlds8tm7vvy2b/T/icon-icon-1aysc1bt5-1767665863605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5934075"/>
            <a:ext cx="133350" cy="133350"/>
          </a:xfrm>
          <a:prstGeom prst="rect">
            <a:avLst/>
          </a:prstGeom>
        </p:spPr>
      </p:pic>
      <p:pic>
        <p:nvPicPr>
          <p:cNvPr id="45" name="Image 14" descr="/var/folders/1y/yzhkrds14j1gm67qjvlds8tm7vvy2b/T/icon-icon-1aysc1bt5-1767665863637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5934075"/>
            <a:ext cx="133350" cy="133350"/>
          </a:xfrm>
          <a:prstGeom prst="rect">
            <a:avLst/>
          </a:prstGeom>
        </p:spPr>
      </p:pic>
      <p:pic>
        <p:nvPicPr>
          <p:cNvPr id="46" name="Image 15" descr="/var/folders/1y/yzhkrds14j1gm67qjvlds8tm7vvy2b/T/icon-icon-ys1dj9nnr-176766586367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5400" y="5934075"/>
            <a:ext cx="133350" cy="133350"/>
          </a:xfrm>
          <a:prstGeom prst="rect">
            <a:avLst/>
          </a:prstGeom>
        </p:spPr>
      </p:pic>
      <p:pic>
        <p:nvPicPr>
          <p:cNvPr id="47" name="Image 16" descr="/var/folders/1y/yzhkrds14j1gm67qjvlds8tm7vvy2b/T/icon-icon-ys1dj9nnr-1767665863714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5934075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2026-01-06T02:17:44Z</dcterms:created>
  <dcterms:modified xsi:type="dcterms:W3CDTF">2026-01-06T02:17:44Z</dcterms:modified>
</cp:coreProperties>
</file>