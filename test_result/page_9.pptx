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10344150"/>
  <p:notesSz cx="1034415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5031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900"/>
              </a:spcAft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비교 및 결론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52500"/>
            <a:ext cx="115031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기아 K9 중고차와 그랜저 하이브리드 신차의 총체적 비교와 소비자 유형별 최적 선택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57200" y="1447800"/>
            <a:ext cx="5524500" cy="2495550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6764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BB16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314450" y="1762125"/>
            <a:ext cx="205057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BB16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2022년식 K9 중고차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266950"/>
            <a:ext cx="50673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구매 비용이 약 555만원 저렴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플래그십 세단의 고급스러운 승차감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강력한 V6 엔진의 주행 감성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5년간 약 2,075만원의 추가 유지비 발생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제조사 보증 기간 만료 임박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0300" y="1447800"/>
            <a:ext cx="5524500" cy="2495550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38900" y="16764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002C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67550" y="1762125"/>
            <a:ext cx="22758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그랜저 하이브리드 신차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38900" y="2266950"/>
            <a:ext cx="50673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415만원의 유지 비용 절감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기술과 첨단 편의 기능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하이브리드 시스템 10년/20만km 긴 보증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구매 비용이 더 높음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플래그십 대비 상대적 위상 열위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171950"/>
            <a:ext cx="11277600" cy="19431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5800" y="4400550"/>
            <a:ext cx="110368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5년간 총 소유 비용 비교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5695950"/>
            <a:ext cx="110368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초기 구매 비용과 5년간 유지비용(연료, 정비, 보험, 세금)을 합산한 금액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343650"/>
            <a:ext cx="115031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소비자 유형별 최적 선택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762750"/>
            <a:ext cx="5562600" cy="14859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7700" y="6953250"/>
            <a:ext cx="381000" cy="457200"/>
          </a:xfrm>
          <a:prstGeom prst="roundRect">
            <a:avLst>
              <a:gd name="adj" fmla="val 24997500"/>
            </a:avLst>
          </a:prstGeom>
          <a:solidFill>
            <a:srgbClr val="FEF9C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43000" y="7048500"/>
            <a:ext cx="12241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비용 중시형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7700" y="7524750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낮은 초기 구매 비용을 중요시하는 소비자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6762750"/>
            <a:ext cx="5562600" cy="14859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62700" y="6953250"/>
            <a:ext cx="381000" cy="457200"/>
          </a:xfrm>
          <a:prstGeom prst="roundRect">
            <a:avLst>
              <a:gd name="adj" fmla="val 24997500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858000" y="7048500"/>
            <a:ext cx="13850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경제성 중시형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62700" y="7524750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연비와 장기 유지 비용을 중요시하는 소비자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8401050"/>
            <a:ext cx="5562600" cy="14859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7700" y="8591550"/>
            <a:ext cx="400050" cy="457200"/>
          </a:xfrm>
          <a:prstGeom prst="roundRect">
            <a:avLst>
              <a:gd name="adj" fmla="val 23807143"/>
            </a:avLst>
          </a:prstGeom>
          <a:solidFill>
            <a:srgbClr val="F3E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162050" y="8686800"/>
            <a:ext cx="12241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주행 감성 중시형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7700" y="9163050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고급스러운 승차감과 강력한 주행 감성 선호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72200" y="8401050"/>
            <a:ext cx="5562600" cy="14859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362700" y="8591550"/>
            <a:ext cx="381000" cy="457200"/>
          </a:xfrm>
          <a:prstGeom prst="roundRect">
            <a:avLst>
              <a:gd name="adj" fmla="val 24997500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858000" y="8686800"/>
            <a:ext cx="12241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기술 중시형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362700" y="9163050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첨단 기능과 신차 보증의 안정감 선호</a:t>
            </a:r>
            <a:endParaRPr lang="en-US" sz="1200" dirty="0"/>
          </a:p>
        </p:txBody>
      </p:sp>
      <p:pic>
        <p:nvPicPr>
          <p:cNvPr id="32" name="Image 0" descr="/var/folders/ky/3gqyhkyd7k16pwqdw48v0k400000gn/T/icon-icon-wokwhb5lf-17674224741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305050"/>
            <a:ext cx="152400" cy="152400"/>
          </a:xfrm>
          <a:prstGeom prst="rect">
            <a:avLst/>
          </a:prstGeom>
        </p:spPr>
      </p:pic>
      <p:pic>
        <p:nvPicPr>
          <p:cNvPr id="33" name="Image 1" descr="/var/folders/ky/3gqyhkyd7k16pwqdw48v0k400000gn/T/icon-icon-wm3wx3zjo-176742247416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09850"/>
            <a:ext cx="152400" cy="152400"/>
          </a:xfrm>
          <a:prstGeom prst="rect">
            <a:avLst/>
          </a:prstGeom>
        </p:spPr>
      </p:pic>
      <p:pic>
        <p:nvPicPr>
          <p:cNvPr id="34" name="Image 2" descr="/var/folders/ky/3gqyhkyd7k16pwqdw48v0k400000gn/T/icon-icon-j69gol56s-176742247422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14650"/>
            <a:ext cx="152400" cy="152400"/>
          </a:xfrm>
          <a:prstGeom prst="rect">
            <a:avLst/>
          </a:prstGeom>
        </p:spPr>
      </p:pic>
      <p:pic>
        <p:nvPicPr>
          <p:cNvPr id="35" name="Image 3" descr="/var/folders/ky/3gqyhkyd7k16pwqdw48v0k400000gn/T/icon-icon-fbnvdtxgu-176742247427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19450"/>
            <a:ext cx="152400" cy="152400"/>
          </a:xfrm>
          <a:prstGeom prst="rect">
            <a:avLst/>
          </a:prstGeom>
        </p:spPr>
      </p:pic>
      <p:pic>
        <p:nvPicPr>
          <p:cNvPr id="36" name="Image 4" descr="/var/folders/ky/3gqyhkyd7k16pwqdw48v0k400000gn/T/icon-icon-0mgf77si9-176742247434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524250"/>
            <a:ext cx="152400" cy="152400"/>
          </a:xfrm>
          <a:prstGeom prst="rect">
            <a:avLst/>
          </a:prstGeom>
        </p:spPr>
      </p:pic>
      <p:pic>
        <p:nvPicPr>
          <p:cNvPr id="37" name="Image 5" descr="/var/folders/ky/3gqyhkyd7k16pwqdw48v0k400000gn/T/icon-icon-mp3bxayr2-176742247439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900" y="2305050"/>
            <a:ext cx="152400" cy="152400"/>
          </a:xfrm>
          <a:prstGeom prst="rect">
            <a:avLst/>
          </a:prstGeom>
        </p:spPr>
      </p:pic>
      <p:pic>
        <p:nvPicPr>
          <p:cNvPr id="38" name="Image 6" descr="/var/folders/ky/3gqyhkyd7k16pwqdw48v0k400000gn/T/icon-icon-8stzn8i8k-176742247445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0" y="2609850"/>
            <a:ext cx="152400" cy="152400"/>
          </a:xfrm>
          <a:prstGeom prst="rect">
            <a:avLst/>
          </a:prstGeom>
        </p:spPr>
      </p:pic>
      <p:pic>
        <p:nvPicPr>
          <p:cNvPr id="39" name="Image 7" descr="/var/folders/ky/3gqyhkyd7k16pwqdw48v0k400000gn/T/icon-icon-u43wxhk8l-176742247450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900" y="2914650"/>
            <a:ext cx="152400" cy="152400"/>
          </a:xfrm>
          <a:prstGeom prst="rect">
            <a:avLst/>
          </a:prstGeom>
        </p:spPr>
      </p:pic>
      <p:pic>
        <p:nvPicPr>
          <p:cNvPr id="40" name="Image 8" descr="/var/folders/ky/3gqyhkyd7k16pwqdw48v0k400000gn/T/icon-icon-jvy1zxlsj-1767422474563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3219450"/>
            <a:ext cx="152400" cy="152400"/>
          </a:xfrm>
          <a:prstGeom prst="rect">
            <a:avLst/>
          </a:prstGeom>
        </p:spPr>
      </p:pic>
      <p:pic>
        <p:nvPicPr>
          <p:cNvPr id="41" name="Image 9" descr="/var/folders/ky/3gqyhkyd7k16pwqdw48v0k400000gn/T/icon-icon-hmpv0kcny-1767422474616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3524250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2026-01-03T06:41:14Z</dcterms:created>
  <dcterms:modified xsi:type="dcterms:W3CDTF">2026-01-03T06:41:14Z</dcterms:modified>
</cp:coreProperties>
</file>