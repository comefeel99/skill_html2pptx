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934200"/>
  <p:notesSz cx="69342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503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900"/>
              </a:spcAft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내구성 및 신뢰성 비교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52500"/>
            <a:ext cx="11503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중고차 K9의 보증기간 잔여여부와 신차 그랜저 하이브리드의 보증혜택 비교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57200" y="1447800"/>
            <a:ext cx="11277600" cy="2705100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5800" y="1676400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 기간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381500"/>
            <a:ext cx="552450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4610100"/>
            <a:ext cx="419100" cy="495300"/>
          </a:xfrm>
          <a:prstGeom prst="roundRect">
            <a:avLst>
              <a:gd name="adj" fmla="val 22725000"/>
            </a:avLst>
          </a:prstGeom>
          <a:solidFill>
            <a:srgbClr val="BB162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57300" y="4705350"/>
            <a:ext cx="23012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2022년식 K9 (4만km)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5257800"/>
            <a:ext cx="506730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2500" y="5257800"/>
            <a:ext cx="2317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일반 부품 보증 (3년/6만km)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5486400"/>
            <a:ext cx="2317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구매 시점에 따라 만료되었을 가능성 있음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52500" y="5791200"/>
            <a:ext cx="26061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엔진/동력계통 보증 (5년/10만km)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2500" y="6019800"/>
            <a:ext cx="260618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유효하나 주행거리 증가에 따라 만료 예정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2500" y="6324600"/>
            <a:ext cx="46619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수리비용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52500" y="6553200"/>
            <a:ext cx="46619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타이어 교체 (약 100만원), 브레이크 패드 (약 15~20만원) 등 소모품 교체 시기 도래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0300" y="4381500"/>
            <a:ext cx="5524500" cy="312420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38900" y="4610100"/>
            <a:ext cx="419100" cy="495300"/>
          </a:xfrm>
          <a:prstGeom prst="roundRect">
            <a:avLst>
              <a:gd name="adj" fmla="val 22725000"/>
            </a:avLst>
          </a:prstGeom>
          <a:solidFill>
            <a:srgbClr val="002C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10400" y="4705350"/>
            <a:ext cx="24522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(신차)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8900" y="5257800"/>
            <a:ext cx="5067300" cy="201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05600" y="5257800"/>
            <a:ext cx="2206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차체/일반 부품 보증 (3년/6만km)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05600" y="5486400"/>
            <a:ext cx="220617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신차 구매로 전체 보증기간 적용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05600" y="5791200"/>
            <a:ext cx="2251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엔진/동력계통 보증 (5년/10만km)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05600" y="6019800"/>
            <a:ext cx="22514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신차 구매로 전체 보증기간 적용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724650" y="6324600"/>
            <a:ext cx="24657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전용 부품 (10년/20만km)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24650" y="6553200"/>
            <a:ext cx="24657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배터리, 모터 등 고가 부품에 대한 장기 보증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705600" y="6858000"/>
            <a:ext cx="420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수리비용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05600" y="7086600"/>
            <a:ext cx="42039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소모품 교체 외 예상치 못한 수리비 발생 가능성 낮음 (연간 약 20만원)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7734300"/>
            <a:ext cx="11277600" cy="20574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800" y="7962900"/>
            <a:ext cx="1103680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신뢰성 주요 고려사항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85800" y="8382000"/>
            <a:ext cx="5401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BB16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K9 중고차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5800" y="8724900"/>
            <a:ext cx="5295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8724900"/>
            <a:ext cx="3655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소유자의 운전/관리 습관에 따른 잠재적 문제 가능성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33450" y="9029700"/>
            <a:ext cx="34810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4만km 시점은 주요 소모품 교체 주기가 다가오는 시기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500" y="9334500"/>
            <a:ext cx="2779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보증 기간 이후 고장 발생 시 비용 부담 증가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0300" y="8382000"/>
            <a:ext cx="540181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2C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그랜저 하이브리드 신차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210300" y="8724900"/>
            <a:ext cx="52959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 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38900" y="8724900"/>
            <a:ext cx="3538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부품이 신품으로 초기 몇 년간 고장 확률 매우 낮음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38900" y="9029700"/>
            <a:ext cx="34716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하이브리드 시스템 핵심 부품 10년/20만km 장기 보증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38900" y="9334500"/>
            <a:ext cx="3967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정기적인 소모품 교체 외 예상치 못한 수리비 발생 가능성 낮음</a:t>
            </a:r>
            <a:endParaRPr lang="en-US" sz="1200" dirty="0"/>
          </a:p>
        </p:txBody>
      </p:sp>
      <p:pic>
        <p:nvPicPr>
          <p:cNvPr id="40" name="Image 0" descr="/var/folders/ky/3gqyhkyd7k16pwqdw48v0k400000gn/T/icon-icon-dfarv9okm-17674224705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295900"/>
            <a:ext cx="152400" cy="152400"/>
          </a:xfrm>
          <a:prstGeom prst="rect">
            <a:avLst/>
          </a:prstGeom>
        </p:spPr>
      </p:pic>
      <p:pic>
        <p:nvPicPr>
          <p:cNvPr id="41" name="Image 1" descr="/var/folders/ky/3gqyhkyd7k16pwqdw48v0k400000gn/T/icon-icon-2dtmzec8d-17674224705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829300"/>
            <a:ext cx="152400" cy="152400"/>
          </a:xfrm>
          <a:prstGeom prst="rect">
            <a:avLst/>
          </a:prstGeom>
        </p:spPr>
      </p:pic>
      <p:pic>
        <p:nvPicPr>
          <p:cNvPr id="42" name="Image 2" descr="/var/folders/ky/3gqyhkyd7k16pwqdw48v0k400000gn/T/icon-icon-5hzvar16e-176742247062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362700"/>
            <a:ext cx="152400" cy="152400"/>
          </a:xfrm>
          <a:prstGeom prst="rect">
            <a:avLst/>
          </a:prstGeom>
        </p:spPr>
      </p:pic>
      <p:pic>
        <p:nvPicPr>
          <p:cNvPr id="43" name="Image 3" descr="/var/folders/ky/3gqyhkyd7k16pwqdw48v0k400000gn/T/icon-icon-wznslzk8v-176742247067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5295900"/>
            <a:ext cx="152400" cy="152400"/>
          </a:xfrm>
          <a:prstGeom prst="rect">
            <a:avLst/>
          </a:prstGeom>
        </p:spPr>
      </p:pic>
      <p:pic>
        <p:nvPicPr>
          <p:cNvPr id="44" name="Image 4" descr="/var/folders/ky/3gqyhkyd7k16pwqdw48v0k400000gn/T/icon-icon-zv73maes9-176742247074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8900" y="5829300"/>
            <a:ext cx="152400" cy="152400"/>
          </a:xfrm>
          <a:prstGeom prst="rect">
            <a:avLst/>
          </a:prstGeom>
        </p:spPr>
      </p:pic>
      <p:pic>
        <p:nvPicPr>
          <p:cNvPr id="45" name="Image 5" descr="/var/folders/ky/3gqyhkyd7k16pwqdw48v0k400000gn/T/icon-icon-xtdf1q1o6-176742247079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6362700"/>
            <a:ext cx="171450" cy="152400"/>
          </a:xfrm>
          <a:prstGeom prst="rect">
            <a:avLst/>
          </a:prstGeom>
        </p:spPr>
      </p:pic>
      <p:pic>
        <p:nvPicPr>
          <p:cNvPr id="46" name="Image 6" descr="/var/folders/ky/3gqyhkyd7k16pwqdw48v0k400000gn/T/icon-icon-utrjqolxq-176742247086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900" y="6896100"/>
            <a:ext cx="152400" cy="152400"/>
          </a:xfrm>
          <a:prstGeom prst="rect">
            <a:avLst/>
          </a:prstGeom>
        </p:spPr>
      </p:pic>
      <p:pic>
        <p:nvPicPr>
          <p:cNvPr id="47" name="Image 7" descr="/var/folders/ky/3gqyhkyd7k16pwqdw48v0k400000gn/T/icon-icon-78nsmub10-1767422470925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8763000"/>
            <a:ext cx="152400" cy="152400"/>
          </a:xfrm>
          <a:prstGeom prst="rect">
            <a:avLst/>
          </a:prstGeom>
        </p:spPr>
      </p:pic>
      <p:pic>
        <p:nvPicPr>
          <p:cNvPr id="48" name="Image 8" descr="/var/folders/ky/3gqyhkyd7k16pwqdw48v0k400000gn/T/icon-icon-e4tc9c464-1767422470978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9067800"/>
            <a:ext cx="171450" cy="152400"/>
          </a:xfrm>
          <a:prstGeom prst="rect">
            <a:avLst/>
          </a:prstGeom>
        </p:spPr>
      </p:pic>
      <p:pic>
        <p:nvPicPr>
          <p:cNvPr id="49" name="Image 9" descr="/var/folders/ky/3gqyhkyd7k16pwqdw48v0k400000gn/T/icon-icon-0x2y0q8uh-1767422471021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9372600"/>
            <a:ext cx="190500" cy="152400"/>
          </a:xfrm>
          <a:prstGeom prst="rect">
            <a:avLst/>
          </a:prstGeom>
        </p:spPr>
      </p:pic>
      <p:pic>
        <p:nvPicPr>
          <p:cNvPr id="50" name="Image 10" descr="/var/folders/ky/3gqyhkyd7k16pwqdw48v0k400000gn/T/icon-icon-lgcejxliz-176742247107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8763000"/>
            <a:ext cx="152400" cy="152400"/>
          </a:xfrm>
          <a:prstGeom prst="rect">
            <a:avLst/>
          </a:prstGeom>
        </p:spPr>
      </p:pic>
      <p:pic>
        <p:nvPicPr>
          <p:cNvPr id="51" name="Image 11" descr="/var/folders/ky/3gqyhkyd7k16pwqdw48v0k400000gn/T/icon-icon-0nj0pntze-1767422471129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9067800"/>
            <a:ext cx="152400" cy="152400"/>
          </a:xfrm>
          <a:prstGeom prst="rect">
            <a:avLst/>
          </a:prstGeom>
        </p:spPr>
      </p:pic>
      <p:pic>
        <p:nvPicPr>
          <p:cNvPr id="52" name="Image 12" descr="/var/folders/ky/3gqyhkyd7k16pwqdw48v0k400000gn/T/icon-icon-1i8ie9yos-1767422471171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9372600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2026-01-03T06:41:11Z</dcterms:created>
  <dcterms:modified xsi:type="dcterms:W3CDTF">2026-01-03T06:41:11Z</dcterms:modified>
</cp:coreProperties>
</file>