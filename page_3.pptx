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934200"/>
  <p:notesSz cx="69342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5031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900"/>
              </a:spcAft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중고차 K9 구매 시 추가 비용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52500"/>
            <a:ext cx="115031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4천만원 기준 K9 중고차 구매 시 발생하는 부대 비용 상세 분석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200" y="1447800"/>
            <a:ext cx="5410200" cy="5638800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676400"/>
            <a:ext cx="50520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BB16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BB16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부대 비용 항목별 내역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2786063"/>
            <a:ext cx="4953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76500"/>
            <a:ext cx="22682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비영업용 승용차 기준, 과세표준액의 7%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3481388"/>
            <a:ext cx="4953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171825"/>
            <a:ext cx="25951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지역별 요율 상이, 즉시 할인 매도 시 비용 발생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4176712"/>
            <a:ext cx="4953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867150"/>
            <a:ext cx="16159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명의이전 시 발생하는 수수료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4872038"/>
            <a:ext cx="4953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562475"/>
            <a:ext cx="17299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관리, 보관 등에 대한 비용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5567363"/>
            <a:ext cx="4953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5257800"/>
            <a:ext cx="24738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딜러의 중개 수수료(차량 가액의 2.2% 이내)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6262688"/>
            <a:ext cx="49530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953125"/>
            <a:ext cx="21988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1개월/2,000km 보증을 위한 의무 보험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" y="6315075"/>
            <a:ext cx="495300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4600" y="1447800"/>
            <a:ext cx="5410200" cy="35814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553200" y="1676400"/>
            <a:ext cx="50520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비용 구성 비율</a:t>
            </a:r>
            <a:endParaRPr lang="en-US" sz="1500" dirty="0"/>
          </a:p>
        </p:txBody>
      </p:sp>
      <p:pic>
        <p:nvPicPr>
          <p:cNvPr id="21" name="Image 0" descr="https://picture-search.skywork.ai/aippt/image/sheet/12bb817dd1e242760bac773c3ff90b8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600" y="5257800"/>
            <a:ext cx="2590800" cy="18288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029700" y="5257800"/>
            <a:ext cx="2705100" cy="1828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9144000" y="5410200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고려사항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9144000" y="5753100"/>
            <a:ext cx="243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취득세는 전체 추가 비용의 약 68%를 차지</a:t>
            </a:r>
            <a:endParaRPr lang="en-US" sz="10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지역별로 공채 매입비 차이 발생</a:t>
            </a:r>
            <a:endParaRPr lang="en-US" sz="10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매도비와 알선 수수료는 협상 가능</a:t>
            </a:r>
            <a:endParaRPr lang="en-US" sz="1050" dirty="0"/>
          </a:p>
        </p:txBody>
      </p:sp>
      <p:pic>
        <p:nvPicPr>
          <p:cNvPr id="25" name="Image 1" descr="/var/folders/ky/3gqyhkyd7k16pwqdw48v0k400000gn/T/icon-icon-0kml3q2f0-1767422464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14500"/>
            <a:ext cx="171450" cy="228600"/>
          </a:xfrm>
          <a:prstGeom prst="rect">
            <a:avLst/>
          </a:prstGeom>
        </p:spPr>
      </p:pic>
      <p:pic>
        <p:nvPicPr>
          <p:cNvPr id="26" name="Image 2" descr="/var/folders/ky/3gqyhkyd7k16pwqdw48v0k400000gn/T/icon-icon-az1scnrs3-176742246416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714500"/>
            <a:ext cx="214313" cy="190500"/>
          </a:xfrm>
          <a:prstGeom prst="rect">
            <a:avLst/>
          </a:prstGeom>
        </p:spPr>
      </p:pic>
      <p:pic>
        <p:nvPicPr>
          <p:cNvPr id="27" name="Image 3" descr="/var/folders/ky/3gqyhkyd7k16pwqdw48v0k400000gn/T/icon-icon-4wzadn6wn-176742246420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5791200"/>
            <a:ext cx="133350" cy="133350"/>
          </a:xfrm>
          <a:prstGeom prst="rect">
            <a:avLst/>
          </a:prstGeom>
        </p:spPr>
      </p:pic>
      <p:pic>
        <p:nvPicPr>
          <p:cNvPr id="28" name="Image 4" descr="/var/folders/ky/3gqyhkyd7k16pwqdw48v0k400000gn/T/icon-icon-6dp3ltoi8-176742246427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6248400"/>
            <a:ext cx="133350" cy="133350"/>
          </a:xfrm>
          <a:prstGeom prst="rect">
            <a:avLst/>
          </a:prstGeom>
        </p:spPr>
      </p:pic>
      <p:pic>
        <p:nvPicPr>
          <p:cNvPr id="29" name="Image 5" descr="/var/folders/ky/3gqyhkyd7k16pwqdw48v0k400000gn/T/icon-icon-ig11qn0tn-176742246433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6515100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2026-01-03T06:41:04Z</dcterms:created>
  <dcterms:modified xsi:type="dcterms:W3CDTF">2026-01-03T06:41:04Z</dcterms:modified>
</cp:coreProperties>
</file>