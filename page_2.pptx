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934200"/>
  <p:notesSz cx="69342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503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구매 비용 비교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기아 K9 중고차와 그랜저 하이브리드 신차의 초기 구매 비용 분석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447800"/>
            <a:ext cx="5524500" cy="2600325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676400"/>
            <a:ext cx="419100" cy="495300"/>
          </a:xfrm>
          <a:prstGeom prst="roundRect">
            <a:avLst>
              <a:gd name="adj" fmla="val 22725000"/>
            </a:avLst>
          </a:prstGeom>
          <a:solidFill>
            <a:srgbClr val="BB16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7300" y="1771650"/>
            <a:ext cx="20505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2022년식 K9 중고차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24100"/>
            <a:ext cx="50673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기본 가격: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4,000만원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 및 세금: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380만원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보험료: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120만원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구매 비용: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4,500만원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0300" y="1447800"/>
            <a:ext cx="5524500" cy="2600325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38900" y="1676400"/>
            <a:ext cx="419100" cy="495300"/>
          </a:xfrm>
          <a:prstGeom prst="roundRect">
            <a:avLst>
              <a:gd name="adj" fmla="val 22725000"/>
            </a:avLst>
          </a:prstGeom>
          <a:solidFill>
            <a:srgbClr val="002C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10400" y="1771650"/>
            <a:ext cx="22758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신차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38900" y="2324100"/>
            <a:ext cx="50673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기본 가격 (익스클루시브):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4,781만원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및 등록 비용: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274만원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보험료: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계산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구매 비용: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5,055만원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352925"/>
            <a:ext cx="112776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4581525"/>
            <a:ext cx="1103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구매 비용 비교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677025"/>
            <a:ext cx="11277600" cy="1447800"/>
          </a:xfrm>
          <a:prstGeom prst="roundRect">
            <a:avLst>
              <a:gd name="adj" fmla="val 526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800" y="6905625"/>
            <a:ext cx="1103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비교 포인트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1550" y="7286625"/>
            <a:ext cx="3038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중고차는 초기 구매 비용이 약 555만원 저렴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7286625"/>
            <a:ext cx="4344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하이브리드는 친환경차 세제 혜택 적용 (취득세 40만원 감면)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2500" y="7667625"/>
            <a:ext cx="371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중고차는 보험료가 상대적으로 높음 (연간 약 120만원)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7000" y="7667625"/>
            <a:ext cx="47057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하이브리드는 트림에 따라 가격 차이가 큼 (4,291만원~5,181만원)</a:t>
            </a:r>
            <a:endParaRPr lang="en-US" sz="1200" dirty="0"/>
          </a:p>
        </p:txBody>
      </p:sp>
      <p:pic>
        <p:nvPicPr>
          <p:cNvPr id="20" name="Image 0" descr="/var/folders/ky/3gqyhkyd7k16pwqdw48v0k400000gn/T/icon-icon-re5rfyrix-17674224625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81250"/>
            <a:ext cx="150019" cy="171450"/>
          </a:xfrm>
          <a:prstGeom prst="rect">
            <a:avLst/>
          </a:prstGeom>
        </p:spPr>
      </p:pic>
      <p:pic>
        <p:nvPicPr>
          <p:cNvPr id="21" name="Image 1" descr="/var/folders/ky/3gqyhkyd7k16pwqdw48v0k400000gn/T/icon-icon-e99qtrbte-17674224626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62250"/>
            <a:ext cx="128588" cy="171450"/>
          </a:xfrm>
          <a:prstGeom prst="rect">
            <a:avLst/>
          </a:prstGeom>
        </p:spPr>
      </p:pic>
      <p:pic>
        <p:nvPicPr>
          <p:cNvPr id="22" name="Image 2" descr="/var/folders/ky/3gqyhkyd7k16pwqdw48v0k400000gn/T/icon-icon-7vhnwd8c3-17674224627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43250"/>
            <a:ext cx="171450" cy="171450"/>
          </a:xfrm>
          <a:prstGeom prst="rect">
            <a:avLst/>
          </a:prstGeom>
        </p:spPr>
      </p:pic>
      <p:pic>
        <p:nvPicPr>
          <p:cNvPr id="23" name="Image 3" descr="/var/folders/ky/3gqyhkyd7k16pwqdw48v0k400000gn/T/icon-icon-c6bb3kr0n-176742246277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381250"/>
            <a:ext cx="150019" cy="171450"/>
          </a:xfrm>
          <a:prstGeom prst="rect">
            <a:avLst/>
          </a:prstGeom>
        </p:spPr>
      </p:pic>
      <p:pic>
        <p:nvPicPr>
          <p:cNvPr id="24" name="Image 4" descr="/var/folders/ky/3gqyhkyd7k16pwqdw48v0k400000gn/T/icon-icon-b3hidljk4-176742246283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762250"/>
            <a:ext cx="128588" cy="171450"/>
          </a:xfrm>
          <a:prstGeom prst="rect">
            <a:avLst/>
          </a:prstGeom>
        </p:spPr>
      </p:pic>
      <p:pic>
        <p:nvPicPr>
          <p:cNvPr id="25" name="Image 5" descr="/var/folders/ky/3gqyhkyd7k16pwqdw48v0k400000gn/T/icon-icon-dlikflry4-176742246288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314325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2026-01-03T06:41:03Z</dcterms:created>
  <dcterms:modified xsi:type="dcterms:W3CDTF">2026-01-03T06:41:03Z</dcterms:modified>
</cp:coreProperties>
</file>